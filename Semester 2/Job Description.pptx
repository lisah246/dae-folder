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8" r:id="rId6"/>
    <p:sldId id="261" r:id="rId7"/>
    <p:sldId id="263" r:id="rId8"/>
    <p:sldId id="262" r:id="rId9"/>
    <p:sldId id="264" r:id="rId10"/>
    <p:sldId id="259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5696"/>
    <a:srgbClr val="BD4C5F"/>
    <a:srgbClr val="585858"/>
    <a:srgbClr val="BC4B5F"/>
    <a:srgbClr val="BD4C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6" autoAdjust="0"/>
    <p:restoredTop sz="95814"/>
  </p:normalViewPr>
  <p:slideViewPr>
    <p:cSldViewPr snapToGrid="0">
      <p:cViewPr varScale="1">
        <p:scale>
          <a:sx n="69" d="100"/>
          <a:sy n="69" d="100"/>
        </p:scale>
        <p:origin x="9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66069-F6C6-47F5-A400-4B9BD977C8EF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6C583-F937-4B6C-89F1-B3B7744FD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430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07F1F-DAA0-4087-B6F2-A60EDC6F8B2E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ED24B-03C7-4558-9DB8-E892D3E37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24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 is an acronym from the world of computer programming and refers to the four functions considered necessary to implement a persistent storage application: create, read, update and delete.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ETL stands for Extract, Transform, Load. It is a data integration process that combines data from multiple sources into a single, consistent data store, such as a data warehouse, for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D24B-03C7-4558-9DB8-E892D3E374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50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https://cdn.codewithmosh.com/image/upload/v1721773293/guides/backend-roadmap-v2.pdf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D24B-03C7-4558-9DB8-E892D3E374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47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E3CE2F-09C4-6C29-0E91-BE91F3991E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(1)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5C050D-D088-6312-43B7-36B5F9155F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653" y="4832114"/>
            <a:ext cx="5355347" cy="2029972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FC18CB-6A25-6B71-D3B1-AB9B7424F66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86"/>
            <a:ext cx="5102362" cy="1533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B86D65-FCF9-9BBA-1BA6-48742DBB190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22" y="252886"/>
            <a:ext cx="2706908" cy="9607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23CD7A-9ED4-498B-236F-489ADB2BD093}"/>
              </a:ext>
            </a:extLst>
          </p:cNvPr>
          <p:cNvSpPr txBox="1"/>
          <p:nvPr userDrawn="1"/>
        </p:nvSpPr>
        <p:spPr>
          <a:xfrm>
            <a:off x="7404444" y="6405017"/>
            <a:ext cx="478755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b="1" i="1" dirty="0">
                <a:solidFill>
                  <a:schemeClr val="bg1"/>
                </a:solidFill>
                <a:latin typeface="Helvetica" pitchFamily="2" charset="0"/>
              </a:rPr>
              <a:t>Digitally-focused  |  Humanity-centric</a:t>
            </a:r>
          </a:p>
        </p:txBody>
      </p:sp>
    </p:spTree>
    <p:extLst>
      <p:ext uri="{BB962C8B-B14F-4D97-AF65-F5344CB8AC3E}">
        <p14:creationId xmlns:p14="http://schemas.microsoft.com/office/powerpoint/2010/main" val="884659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rgbClr val="BD4C5F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85858"/>
                </a:solidFill>
                <a:latin typeface="Helvetica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866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69E59-8F90-2CEA-C0E0-678ADDA83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7E5696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B8A65-62E9-891B-B5E3-A9B4B9EB5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horz"/>
          <a:lstStyle>
            <a:lvl1pPr>
              <a:defRPr>
                <a:solidFill>
                  <a:srgbClr val="585858"/>
                </a:solidFill>
                <a:latin typeface="Helvetica" pitchFamily="2" charset="0"/>
              </a:defRPr>
            </a:lvl1pPr>
            <a:lvl2pPr marL="685800" indent="-228600">
              <a:buSzPct val="77000"/>
              <a:buFont typeface="Courier New" panose="02070309020205020404" pitchFamily="49" charset="0"/>
              <a:buChar char="o"/>
              <a:defRPr>
                <a:solidFill>
                  <a:srgbClr val="585858"/>
                </a:solidFill>
                <a:latin typeface="Helvetica" pitchFamily="2" charset="0"/>
              </a:defRPr>
            </a:lvl2pPr>
            <a:lvl3pPr marL="1143000" indent="-228600">
              <a:buSzPct val="84000"/>
              <a:buFont typeface="Wingdings" pitchFamily="2" charset="2"/>
              <a:buChar char="Ø"/>
              <a:defRPr>
                <a:solidFill>
                  <a:srgbClr val="585858"/>
                </a:solidFill>
                <a:latin typeface="Helvetica" pitchFamily="2" charset="0"/>
              </a:defRPr>
            </a:lvl3pPr>
            <a:lvl4pPr>
              <a:defRPr>
                <a:solidFill>
                  <a:srgbClr val="585858"/>
                </a:solidFill>
                <a:latin typeface="Helvetica" pitchFamily="2" charset="0"/>
              </a:defRPr>
            </a:lvl4pPr>
            <a:lvl5pPr>
              <a:defRPr>
                <a:solidFill>
                  <a:srgbClr val="585858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67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7E5696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585858"/>
                </a:solidFill>
                <a:latin typeface="Helvetica" pitchFamily="2" charset="0"/>
              </a:defRPr>
            </a:lvl1pPr>
            <a:lvl2pPr>
              <a:defRPr>
                <a:solidFill>
                  <a:srgbClr val="585858"/>
                </a:solidFill>
                <a:latin typeface="Helvetica" pitchFamily="2" charset="0"/>
              </a:defRPr>
            </a:lvl2pPr>
            <a:lvl3pPr>
              <a:defRPr>
                <a:solidFill>
                  <a:srgbClr val="585858"/>
                </a:solidFill>
                <a:latin typeface="Helvetica" pitchFamily="2" charset="0"/>
              </a:defRPr>
            </a:lvl3pPr>
            <a:lvl4pPr>
              <a:defRPr>
                <a:solidFill>
                  <a:srgbClr val="585858"/>
                </a:solidFill>
                <a:latin typeface="Helvetica" pitchFamily="2" charset="0"/>
              </a:defRPr>
            </a:lvl4pPr>
            <a:lvl5pPr>
              <a:defRPr>
                <a:solidFill>
                  <a:srgbClr val="585858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585858"/>
                </a:solidFill>
                <a:latin typeface="Helvetica" pitchFamily="2" charset="0"/>
              </a:defRPr>
            </a:lvl1pPr>
            <a:lvl2pPr>
              <a:defRPr>
                <a:solidFill>
                  <a:srgbClr val="585858"/>
                </a:solidFill>
                <a:latin typeface="Helvetica" pitchFamily="2" charset="0"/>
              </a:defRPr>
            </a:lvl2pPr>
            <a:lvl3pPr>
              <a:defRPr>
                <a:solidFill>
                  <a:srgbClr val="585858"/>
                </a:solidFill>
                <a:latin typeface="Helvetica" pitchFamily="2" charset="0"/>
              </a:defRPr>
            </a:lvl3pPr>
            <a:lvl4pPr>
              <a:defRPr>
                <a:solidFill>
                  <a:srgbClr val="585858"/>
                </a:solidFill>
                <a:latin typeface="Helvetica" pitchFamily="2" charset="0"/>
              </a:defRPr>
            </a:lvl4pPr>
            <a:lvl5pPr>
              <a:defRPr>
                <a:solidFill>
                  <a:srgbClr val="585858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390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rgbClr val="7E5696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BD4C5F"/>
                </a:solidFill>
                <a:latin typeface="Helvetica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rgbClr val="585858"/>
                </a:solidFill>
                <a:latin typeface="Helvetica" pitchFamily="2" charset="0"/>
              </a:defRPr>
            </a:lvl1pPr>
            <a:lvl2pPr>
              <a:defRPr>
                <a:solidFill>
                  <a:srgbClr val="585858"/>
                </a:solidFill>
                <a:latin typeface="Helvetica" pitchFamily="2" charset="0"/>
              </a:defRPr>
            </a:lvl2pPr>
            <a:lvl3pPr>
              <a:defRPr>
                <a:solidFill>
                  <a:srgbClr val="585858"/>
                </a:solidFill>
                <a:latin typeface="Helvetica" pitchFamily="2" charset="0"/>
              </a:defRPr>
            </a:lvl3pPr>
            <a:lvl4pPr>
              <a:defRPr>
                <a:solidFill>
                  <a:srgbClr val="585858"/>
                </a:solidFill>
                <a:latin typeface="Helvetica" pitchFamily="2" charset="0"/>
              </a:defRPr>
            </a:lvl4pPr>
            <a:lvl5pPr>
              <a:defRPr>
                <a:solidFill>
                  <a:srgbClr val="585858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BD4C5F"/>
                </a:solidFill>
                <a:latin typeface="Helvetica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rgbClr val="585858"/>
                </a:solidFill>
                <a:latin typeface="Helvetica" pitchFamily="2" charset="0"/>
              </a:defRPr>
            </a:lvl1pPr>
            <a:lvl2pPr>
              <a:defRPr>
                <a:solidFill>
                  <a:srgbClr val="585858"/>
                </a:solidFill>
                <a:latin typeface="Helvetica" pitchFamily="2" charset="0"/>
              </a:defRPr>
            </a:lvl2pPr>
            <a:lvl3pPr>
              <a:defRPr>
                <a:solidFill>
                  <a:srgbClr val="585858"/>
                </a:solidFill>
                <a:latin typeface="Helvetica" pitchFamily="2" charset="0"/>
              </a:defRPr>
            </a:lvl3pPr>
            <a:lvl4pPr>
              <a:defRPr>
                <a:solidFill>
                  <a:srgbClr val="585858"/>
                </a:solidFill>
                <a:latin typeface="Helvetica" pitchFamily="2" charset="0"/>
              </a:defRPr>
            </a:lvl4pPr>
            <a:lvl5pPr>
              <a:defRPr>
                <a:solidFill>
                  <a:srgbClr val="585858"/>
                </a:solidFill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051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7E5696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1006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21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5799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654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87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69" y="6396599"/>
            <a:ext cx="735461" cy="2610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213" y="2641600"/>
            <a:ext cx="3365787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8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7E5696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85858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858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858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85858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85858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40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6C89D0-A5BE-6AED-CF50-C8E3854BA0E7}"/>
              </a:ext>
            </a:extLst>
          </p:cNvPr>
          <p:cNvSpPr txBox="1"/>
          <p:nvPr/>
        </p:nvSpPr>
        <p:spPr>
          <a:xfrm>
            <a:off x="351313" y="1075771"/>
            <a:ext cx="10926288" cy="400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Job </a:t>
            </a:r>
            <a:r>
              <a:rPr lang="en-US" sz="24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Title and Summary</a:t>
            </a: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/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What is the role called</a:t>
            </a:r>
            <a:r>
              <a:rPr lang="en-US" sz="2400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 </a:t>
            </a:r>
            <a:r>
              <a:rPr lang="en-US" sz="2400" b="1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Backend </a:t>
            </a:r>
            <a:r>
              <a:rPr lang="en-US" sz="2400" b="1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Engineer</a:t>
            </a: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/>
            </a:r>
            <a:b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Write a short 2–3 sentence summary that explains what the role does and why it exists</a:t>
            </a:r>
            <a:r>
              <a:rPr lang="en-US" sz="2400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Backend Developer </a:t>
            </a:r>
            <a:r>
              <a:rPr lang="en-US" sz="24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builds and maintains </a:t>
            </a:r>
            <a:r>
              <a:rPr lang="en-US" sz="2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server-side logic, databases, and APIs</a:t>
            </a:r>
            <a:r>
              <a:rPr lang="en-US" sz="2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that </a:t>
            </a:r>
            <a:r>
              <a:rPr lang="en-US" sz="24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power web and mobile apps</a:t>
            </a:r>
            <a:r>
              <a:rPr lang="en-US" sz="24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They focus on data flow, business logic, and integration layers to ensure applications run smoothly and securely. Essentially, they create the hidden foundation that makes frontend experiences possible</a:t>
            </a:r>
            <a:r>
              <a:rPr lang="en-US" sz="24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903BC70-FACF-ADC5-A43E-C2670B9FC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2" y="249382"/>
            <a:ext cx="10515600" cy="695134"/>
          </a:xfrm>
        </p:spPr>
        <p:txBody>
          <a:bodyPr/>
          <a:lstStyle/>
          <a:p>
            <a:r>
              <a:rPr lang="en-US" dirty="0" smtClean="0"/>
              <a:t>Lisa’s Job </a:t>
            </a:r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86049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6C89D0-A5BE-6AED-CF50-C8E3854BA0E7}"/>
              </a:ext>
            </a:extLst>
          </p:cNvPr>
          <p:cNvSpPr txBox="1"/>
          <p:nvPr/>
        </p:nvSpPr>
        <p:spPr>
          <a:xfrm>
            <a:off x="351312" y="988487"/>
            <a:ext cx="11566071" cy="5025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200" b="1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</a:t>
            </a:r>
            <a:r>
              <a:rPr lang="en-US" sz="2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Responsibilities</a:t>
            </a:r>
            <a: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/>
            </a:r>
            <a:b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List 5–7 tasks or duties this role performs regularly.</a:t>
            </a:r>
            <a:b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200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Example: “Maintain backend systems using Node.js,” “Respond to cybersecurity alerts.”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Write and maintain </a:t>
            </a:r>
            <a:r>
              <a:rPr lang="en-US" sz="2200" b="1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server-side </a:t>
            </a:r>
            <a:r>
              <a:rPr lang="en-US" sz="22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logic 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and REST/</a:t>
            </a:r>
            <a:r>
              <a:rPr lang="en-US" sz="2200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GraphQL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APIs</a:t>
            </a: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Design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implement, and optimize </a:t>
            </a:r>
            <a:r>
              <a:rPr lang="en-US" sz="22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databases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(SQL and NoSQL</a:t>
            </a: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Collaborate 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with frontend </a:t>
            </a:r>
            <a:r>
              <a:rPr lang="en-US" sz="2200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devs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to integrate services </a:t>
            </a: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and seamless 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data flow. </a:t>
            </a:r>
            <a:endParaRPr lang="en-US" sz="2200" dirty="0" smtClean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Debug</a:t>
            </a: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backend 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code, fix bugs, and improve performance and scalability. </a:t>
            </a:r>
            <a:endParaRPr lang="en-US" sz="2200" dirty="0" smtClean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Implement 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security measures like authentication, authorization, and data </a:t>
            </a: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protection.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Deploy 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and manage backend services, using containerization and cloud </a:t>
            </a: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platforms.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Write </a:t>
            </a:r>
            <a:r>
              <a:rPr lang="en-US" sz="22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tests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(unit, integration) and maintain documentation. </a:t>
            </a:r>
            <a:endParaRPr lang="en-US" sz="2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903BC70-FACF-ADC5-A43E-C2670B9FC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2" y="249382"/>
            <a:ext cx="10515600" cy="695134"/>
          </a:xfrm>
        </p:spPr>
        <p:txBody>
          <a:bodyPr/>
          <a:lstStyle/>
          <a:p>
            <a:r>
              <a:rPr lang="en-US" dirty="0" smtClean="0"/>
              <a:t>Lisa’s Job </a:t>
            </a:r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97502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6C89D0-A5BE-6AED-CF50-C8E3854BA0E7}"/>
              </a:ext>
            </a:extLst>
          </p:cNvPr>
          <p:cNvSpPr txBox="1"/>
          <p:nvPr/>
        </p:nvSpPr>
        <p:spPr>
          <a:xfrm>
            <a:off x="351312" y="944516"/>
            <a:ext cx="11566071" cy="1636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b="1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Required Skills and Tools</a:t>
            </a:r>
            <a:r>
              <a:rPr lang="en-US" sz="2000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What programming languages, tools, platforms, or soft skills are essential for this job?</a:t>
            </a:r>
            <a:br>
              <a:rPr lang="en-US" sz="2000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Example: Python, Linux, teamwork, </a:t>
            </a:r>
            <a:r>
              <a:rPr lang="en-US" sz="2000" dirty="0" err="1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Git</a:t>
            </a:r>
            <a:r>
              <a:rPr lang="en-US" sz="2000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endParaRPr lang="en-US" sz="2000" dirty="0" smtClean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903BC70-FACF-ADC5-A43E-C2670B9FC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2" y="249382"/>
            <a:ext cx="10515600" cy="695134"/>
          </a:xfrm>
        </p:spPr>
        <p:txBody>
          <a:bodyPr/>
          <a:lstStyle/>
          <a:p>
            <a:r>
              <a:rPr lang="en-US" dirty="0" smtClean="0"/>
              <a:t>Lisa’s Job </a:t>
            </a:r>
            <a:r>
              <a:rPr lang="en-US" dirty="0"/>
              <a:t>Description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930951"/>
              </p:ext>
            </p:extLst>
          </p:nvPr>
        </p:nvGraphicFramePr>
        <p:xfrm>
          <a:off x="545276" y="2105993"/>
          <a:ext cx="10515600" cy="4228305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2348577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576211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941648"/>
                  </a:ext>
                </a:extLst>
              </a:tr>
              <a:tr h="687083">
                <a:tc>
                  <a:txBody>
                    <a:bodyPr/>
                    <a:lstStyle/>
                    <a:p>
                      <a:r>
                        <a:rPr lang="en-US" b="1"/>
                        <a:t>Languages &amp; Frameworks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Python, Java, Node.js; Django, Flask, Spring </a:t>
                      </a:r>
                      <a:r>
                        <a:rPr lang="en-US" dirty="0" smtClean="0"/>
                        <a:t>Boot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00221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r>
                        <a:rPr lang="en-US" b="1" dirty="0"/>
                        <a:t>Databases &amp; Data Tools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PostgreSQL, MySQL, MongoDB, </a:t>
                      </a:r>
                      <a:r>
                        <a:rPr lang="en-US" dirty="0" err="1"/>
                        <a:t>Redis</a:t>
                      </a:r>
                      <a:r>
                        <a:rPr lang="en-US" dirty="0"/>
                        <a:t>, </a:t>
                      </a:r>
                      <a:r>
                        <a:rPr lang="en-US" dirty="0" smtClean="0"/>
                        <a:t>Kafka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307513"/>
                  </a:ext>
                </a:extLst>
              </a:tr>
              <a:tr h="734291">
                <a:tc>
                  <a:txBody>
                    <a:bodyPr/>
                    <a:lstStyle/>
                    <a:p>
                      <a:r>
                        <a:rPr lang="en-US" b="1"/>
                        <a:t>API Design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REST, </a:t>
                      </a:r>
                      <a:r>
                        <a:rPr lang="en-US" dirty="0" err="1"/>
                        <a:t>GraphQL</a:t>
                      </a:r>
                      <a:r>
                        <a:rPr lang="en-US" dirty="0"/>
                        <a:t>, JSON, API documentation tools (Swagger/Postman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108946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r>
                        <a:rPr lang="en-US" b="1"/>
                        <a:t>DevOps &amp; Deployment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Git</a:t>
                      </a:r>
                      <a:r>
                        <a:rPr lang="en-US" dirty="0"/>
                        <a:t>, Docker/Kubernetes, AWS/Azure, Linux, </a:t>
                      </a:r>
                      <a:r>
                        <a:rPr lang="en-US" dirty="0" smtClean="0"/>
                        <a:t>CI/CD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865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Performance &amp; Security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Caching strategies, load balancing, encryption, </a:t>
                      </a:r>
                      <a:r>
                        <a:rPr lang="en-US" dirty="0" err="1"/>
                        <a:t>auth</a:t>
                      </a:r>
                      <a:r>
                        <a:rPr lang="en-US" dirty="0"/>
                        <a:t> </a:t>
                      </a:r>
                      <a:r>
                        <a:rPr lang="en-US" dirty="0" smtClean="0"/>
                        <a:t>tokens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839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Soft Skills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Collaboration, problem solving, communication, attention to detail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080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85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6C89D0-A5BE-6AED-CF50-C8E3854BA0E7}"/>
              </a:ext>
            </a:extLst>
          </p:cNvPr>
          <p:cNvSpPr txBox="1"/>
          <p:nvPr/>
        </p:nvSpPr>
        <p:spPr>
          <a:xfrm>
            <a:off x="351312" y="1030050"/>
            <a:ext cx="10171710" cy="4828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 smtClean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4. Sample Deliverables</a:t>
            </a:r>
            <a:r>
              <a:rPr lang="en-US" sz="2400" dirty="0" smtClean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 smtClean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- What kind of work or projects would someone in this job create or be responsible for?</a:t>
            </a:r>
            <a:br>
              <a:rPr lang="en-US" sz="2400" dirty="0" smtClean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400" dirty="0" smtClean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- Example: incident report, API endpoint, dashboard.</a:t>
            </a:r>
          </a:p>
          <a:p>
            <a:r>
              <a:rPr lang="en-US" sz="2400" dirty="0"/>
              <a:t>When working as a Backend Developer, you'd produce: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Working </a:t>
            </a:r>
            <a:r>
              <a:rPr lang="en-US" sz="2400" b="1" dirty="0"/>
              <a:t>API endpoints</a:t>
            </a:r>
            <a:r>
              <a:rPr lang="en-US" sz="2400" dirty="0"/>
              <a:t> for CRUD, authentication, reporting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Database schema</a:t>
            </a:r>
            <a:r>
              <a:rPr lang="en-US" sz="2400" dirty="0"/>
              <a:t> designs and optimized queries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Data pipelines or batch jobs</a:t>
            </a:r>
            <a:r>
              <a:rPr lang="en-US" sz="2400" dirty="0"/>
              <a:t> for ETL or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Backend logic </a:t>
            </a:r>
            <a:r>
              <a:rPr lang="en-US" sz="2400" dirty="0"/>
              <a:t>for features like user authentication, scoring, or filtering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Monitoring alerts</a:t>
            </a:r>
            <a:r>
              <a:rPr lang="en-US" sz="2400" dirty="0"/>
              <a:t>, logging dashboards, and performance 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Automated test suites</a:t>
            </a:r>
            <a:r>
              <a:rPr lang="en-US" sz="2400" dirty="0"/>
              <a:t> and deployment setups (e.g. CI pipelines)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endParaRPr lang="en-US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903BC70-FACF-ADC5-A43E-C2670B9FC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2" y="249382"/>
            <a:ext cx="10515600" cy="695134"/>
          </a:xfrm>
        </p:spPr>
        <p:txBody>
          <a:bodyPr/>
          <a:lstStyle/>
          <a:p>
            <a:r>
              <a:rPr lang="en-US" dirty="0" smtClean="0"/>
              <a:t>Lisa’s Job </a:t>
            </a:r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82834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AAB3638-9BF2-B2E6-DBEE-EAC883FE5BB7}"/>
              </a:ext>
            </a:extLst>
          </p:cNvPr>
          <p:cNvSpPr txBox="1">
            <a:spLocks/>
          </p:cNvSpPr>
          <p:nvPr/>
        </p:nvSpPr>
        <p:spPr>
          <a:xfrm>
            <a:off x="351312" y="1533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7E5696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Workplace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BC694-CFFD-26DE-75F2-2E812710E327}"/>
              </a:ext>
            </a:extLst>
          </p:cNvPr>
          <p:cNvSpPr txBox="1"/>
          <p:nvPr/>
        </p:nvSpPr>
        <p:spPr>
          <a:xfrm>
            <a:off x="351312" y="1271087"/>
            <a:ext cx="10106891" cy="4593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5. Ideal Work Environment</a:t>
            </a:r>
            <a: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/>
            </a:r>
            <a:b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What kind of company is this job at? (startup, nonprofit, large tech?)</a:t>
            </a:r>
            <a:b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What is the work style? (independent, team-based, structured</a:t>
            </a:r>
            <a:r>
              <a:rPr lang="en-US" sz="2200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?)</a:t>
            </a:r>
            <a:endParaRPr lang="en-US" sz="2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2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Company types: </a:t>
            </a:r>
            <a:endParaRPr lang="en-US" sz="2200" b="1" dirty="0" smtClean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Tech 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startups, product-oriented small companies, SaaS firms, AI/data platforms, and modern engineering teams</a:t>
            </a: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200" b="1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Team </a:t>
            </a:r>
            <a:r>
              <a:rPr lang="en-US" sz="22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style: </a:t>
            </a:r>
            <a:endParaRPr lang="en-US" sz="2200" b="1" dirty="0" smtClean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Team-based 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with close collaboration—daily standups, code reviews, pairing. </a:t>
            </a:r>
            <a:endParaRPr lang="en-US" sz="2200" dirty="0" smtClean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Some 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solo work on specific features permitted. Remote-friendly, flexible schedules. </a:t>
            </a:r>
            <a:endParaRPr lang="en-US" sz="2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37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AAB3638-9BF2-B2E6-DBEE-EAC883FE5BB7}"/>
              </a:ext>
            </a:extLst>
          </p:cNvPr>
          <p:cNvSpPr txBox="1">
            <a:spLocks/>
          </p:cNvSpPr>
          <p:nvPr/>
        </p:nvSpPr>
        <p:spPr>
          <a:xfrm>
            <a:off x="351312" y="1533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7E5696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r>
              <a:rPr lang="en-US" dirty="0"/>
              <a:t>Workplace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BC694-CFFD-26DE-75F2-2E812710E327}"/>
              </a:ext>
            </a:extLst>
          </p:cNvPr>
          <p:cNvSpPr txBox="1"/>
          <p:nvPr/>
        </p:nvSpPr>
        <p:spPr>
          <a:xfrm>
            <a:off x="351312" y="1180103"/>
            <a:ext cx="9977252" cy="4854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2200" b="1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</a:t>
            </a:r>
            <a:r>
              <a:rPr lang="en-US" sz="22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Growth Style and Rigor</a:t>
            </a:r>
            <a: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/>
            </a:r>
            <a:b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How fast-paced or intense is the work?</a:t>
            </a:r>
            <a:b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2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Is there mentorship, structure, freedom, or pressure</a:t>
            </a:r>
            <a:r>
              <a:rPr lang="en-US" sz="2200" dirty="0" smtClean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Pace: 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Moderate-to-fast, driven by feature delivery cycles and release deadlines</a:t>
            </a: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Structure</a:t>
            </a:r>
            <a:r>
              <a:rPr lang="en-US" sz="22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Typically structured agile teams with mentorship and reviewer feedback for entry-level engineers</a:t>
            </a: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Freedom</a:t>
            </a:r>
            <a:r>
              <a:rPr lang="en-US" sz="22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Entry-level backend </a:t>
            </a:r>
            <a:r>
              <a:rPr lang="en-US" sz="2200" dirty="0" err="1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devs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receive guidance but also ownership of small features and modules</a:t>
            </a:r>
            <a:r>
              <a:rPr lang="en-US" sz="2200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Pressure</a:t>
            </a:r>
            <a:r>
              <a:rPr lang="en-US" sz="2200" b="1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Some on-call or occasional emergency fixes may be required—expected but manageable if the system design is solid. You’d deal with production issues infrequently and systematically.</a:t>
            </a:r>
            <a:endParaRPr lang="en-US" sz="22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40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3638-9BF2-B2E6-DBEE-EAC883FE5BB7}"/>
              </a:ext>
            </a:extLst>
          </p:cNvPr>
          <p:cNvSpPr txBox="1">
            <a:spLocks/>
          </p:cNvSpPr>
          <p:nvPr/>
        </p:nvSpPr>
        <p:spPr>
          <a:xfrm>
            <a:off x="836221" y="25778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7E5696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114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67EF08A1-8A2D-8147-85A3-7463675FCE1B}" vid="{3E80FA0F-F38D-8049-B8ED-24012407F1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30561f8-3a58-4d5a-99f5-e5bf032bbe8e">
      <Terms xmlns="http://schemas.microsoft.com/office/infopath/2007/PartnerControls"/>
    </lcf76f155ced4ddcb4097134ff3c332f>
    <TaxCatchAll xmlns="5e9b80ff-26ff-4136-90e7-92d5df22693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C38FE0D61D5046BB8E8D30AC84F4CC" ma:contentTypeVersion="13" ma:contentTypeDescription="Create a new document." ma:contentTypeScope="" ma:versionID="f594c1f6c452f8c7ddd3e061233fab00">
  <xsd:schema xmlns:xsd="http://www.w3.org/2001/XMLSchema" xmlns:xs="http://www.w3.org/2001/XMLSchema" xmlns:p="http://schemas.microsoft.com/office/2006/metadata/properties" xmlns:ns2="330561f8-3a58-4d5a-99f5-e5bf032bbe8e" xmlns:ns3="5e9b80ff-26ff-4136-90e7-92d5df226937" targetNamespace="http://schemas.microsoft.com/office/2006/metadata/properties" ma:root="true" ma:fieldsID="181fbdcbbeed63ea09858cc38d456c6f" ns2:_="" ns3:_="">
    <xsd:import namespace="330561f8-3a58-4d5a-99f5-e5bf032bbe8e"/>
    <xsd:import namespace="5e9b80ff-26ff-4136-90e7-92d5df22693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0561f8-3a58-4d5a-99f5-e5bf032bbe8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a6dbf3b-0b42-49fe-8ca0-47f009b506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9b80ff-26ff-4136-90e7-92d5df22693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76af52df-4389-4476-830d-7e379b9486d2}" ma:internalName="TaxCatchAll" ma:showField="CatchAllData" ma:web="5e9b80ff-26ff-4136-90e7-92d5df2269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0F0CF2-8870-49D0-9788-642D6C022A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5080A1-27FD-4064-9E01-01F8D02423D4}">
  <ds:schemaRefs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330561f8-3a58-4d5a-99f5-e5bf032bbe8e"/>
    <ds:schemaRef ds:uri="http://purl.org/dc/terms/"/>
    <ds:schemaRef ds:uri="http://www.w3.org/XML/1998/namespace"/>
    <ds:schemaRef ds:uri="http://schemas.microsoft.com/office/infopath/2007/PartnerControls"/>
    <ds:schemaRef ds:uri="5e9b80ff-26ff-4136-90e7-92d5df22693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1789153-6AF8-4C0D-A854-28161CDE65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0561f8-3a58-4d5a-99f5-e5bf032bbe8e"/>
    <ds:schemaRef ds:uri="5e9b80ff-26ff-4136-90e7-92d5df2269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</TotalTime>
  <Words>707</Words>
  <Application>Microsoft Office PowerPoint</Application>
  <PresentationFormat>Widescreen</PresentationFormat>
  <Paragraphs>57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Helvetica</vt:lpstr>
      <vt:lpstr>MS Mincho</vt:lpstr>
      <vt:lpstr>Times New Roman</vt:lpstr>
      <vt:lpstr>Wingdings</vt:lpstr>
      <vt:lpstr>Office Theme</vt:lpstr>
      <vt:lpstr>PowerPoint Presentation</vt:lpstr>
      <vt:lpstr>Lisa’s Job Description</vt:lpstr>
      <vt:lpstr>Lisa’s Job Description</vt:lpstr>
      <vt:lpstr>Lisa’s Job Description</vt:lpstr>
      <vt:lpstr>Lisa’s Job Description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Caitlin Knecht</dc:creator>
  <cp:lastModifiedBy>Hom, Lisa/It And Digital Initiatives</cp:lastModifiedBy>
  <cp:revision>18</cp:revision>
  <cp:lastPrinted>2025-04-17T20:11:36Z</cp:lastPrinted>
  <dcterms:created xsi:type="dcterms:W3CDTF">2023-06-12T15:38:38Z</dcterms:created>
  <dcterms:modified xsi:type="dcterms:W3CDTF">2025-08-07T18:32:21Z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0x01010083C38FE0D61D5046BB8E8D30AC84F4CC</vt:lpwstr>
  </property>
  <property fmtid="{D5CDD505-2E9C-101B-9397-08002B2CF9AE}" pid="3" name="Order">
    <vt:r8>1900</vt:r8>
  </property>
  <property fmtid="{D5CDD505-2E9C-101B-9397-08002B2CF9AE}" pid="4" name="MediaServiceImageTags">
    <vt:lpwstr/>
  </property>
</Properties>
</file>