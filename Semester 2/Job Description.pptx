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2"/>
  </p:notesMasterIdLst>
  <p:handoutMasterIdLst>
    <p:handoutMasterId r:id="rId13"/>
  </p:handoutMasterIdLst>
  <p:sldIdLst>
    <p:sldId id="256" r:id="rId5"/>
    <p:sldId id="258" r:id="rId6"/>
    <p:sldId id="261" r:id="rId7"/>
    <p:sldId id="263" r:id="rId8"/>
    <p:sldId id="262" r:id="rId9"/>
    <p:sldId id="264" r:id="rId10"/>
    <p:sldId id="259"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5696"/>
    <a:srgbClr val="BD4C5F"/>
    <a:srgbClr val="585858"/>
    <a:srgbClr val="BC4B5F"/>
    <a:srgbClr val="BD4C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606" autoAdjust="0"/>
    <p:restoredTop sz="95814"/>
  </p:normalViewPr>
  <p:slideViewPr>
    <p:cSldViewPr snapToGrid="0">
      <p:cViewPr varScale="1">
        <p:scale>
          <a:sx n="69" d="100"/>
          <a:sy n="69" d="100"/>
        </p:scale>
        <p:origin x="960"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766069-F6C6-47F5-A400-4B9BD977C8EF}" type="datetimeFigureOut">
              <a:rPr lang="en-US" smtClean="0"/>
              <a:t>8/6/2025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3D6C583-F937-4B6C-89F1-B3B7744FD8F8}" type="slidenum">
              <a:rPr lang="en-US" smtClean="0"/>
              <a:t>‹#›</a:t>
            </a:fld>
            <a:endParaRPr lang="en-US"/>
          </a:p>
        </p:txBody>
      </p:sp>
    </p:spTree>
    <p:extLst>
      <p:ext uri="{BB962C8B-B14F-4D97-AF65-F5344CB8AC3E}">
        <p14:creationId xmlns:p14="http://schemas.microsoft.com/office/powerpoint/2010/main" val="83594301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B07F1F-DAA0-4087-B6F2-A60EDC6F8B2E}" type="datetimeFigureOut">
              <a:rPr lang="en-US" smtClean="0"/>
              <a:t>8/6/2025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AED24B-03C7-4558-9DB8-E892D3E37410}" type="slidenum">
              <a:rPr lang="en-US" smtClean="0"/>
              <a:t>‹#›</a:t>
            </a:fld>
            <a:endParaRPr lang="en-US"/>
          </a:p>
        </p:txBody>
      </p:sp>
    </p:spTree>
    <p:extLst>
      <p:ext uri="{BB962C8B-B14F-4D97-AF65-F5344CB8AC3E}">
        <p14:creationId xmlns:p14="http://schemas.microsoft.com/office/powerpoint/2010/main" val="290022471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E3CE2F-09C4-6C29-0E91-BE91F3991EB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r>
              <a:rPr lang="en-US" dirty="0"/>
              <a:t>(1)</a:t>
            </a:r>
          </a:p>
        </p:txBody>
      </p:sp>
      <p:pic>
        <p:nvPicPr>
          <p:cNvPr id="4" name="Picture 3">
            <a:extLst>
              <a:ext uri="{FF2B5EF4-FFF2-40B4-BE49-F238E27FC236}">
                <a16:creationId xmlns:a16="http://schemas.microsoft.com/office/drawing/2014/main" id="{815C050D-D088-6312-43B7-36B5F9155FCD}"/>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836653" y="4832114"/>
            <a:ext cx="5355347" cy="2029972"/>
          </a:xfrm>
          <a:prstGeom prst="rect">
            <a:avLst/>
          </a:prstGeom>
          <a:noFill/>
        </p:spPr>
      </p:pic>
      <p:pic>
        <p:nvPicPr>
          <p:cNvPr id="5" name="Picture 4">
            <a:extLst>
              <a:ext uri="{FF2B5EF4-FFF2-40B4-BE49-F238E27FC236}">
                <a16:creationId xmlns:a16="http://schemas.microsoft.com/office/drawing/2014/main" id="{1CFC18CB-6A25-6B71-D3B1-AB9B7424F66A}"/>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0" y="-4086"/>
            <a:ext cx="5102362" cy="1533147"/>
          </a:xfrm>
          <a:prstGeom prst="rect">
            <a:avLst/>
          </a:prstGeom>
        </p:spPr>
      </p:pic>
      <p:pic>
        <p:nvPicPr>
          <p:cNvPr id="6" name="Picture 5">
            <a:extLst>
              <a:ext uri="{FF2B5EF4-FFF2-40B4-BE49-F238E27FC236}">
                <a16:creationId xmlns:a16="http://schemas.microsoft.com/office/drawing/2014/main" id="{3FB86D65-FCF9-9BBA-1BA6-48742DBB1901}"/>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576622" y="252886"/>
            <a:ext cx="2706908" cy="960773"/>
          </a:xfrm>
          <a:prstGeom prst="rect">
            <a:avLst/>
          </a:prstGeom>
        </p:spPr>
      </p:pic>
      <p:sp>
        <p:nvSpPr>
          <p:cNvPr id="3" name="TextBox 2">
            <a:extLst>
              <a:ext uri="{FF2B5EF4-FFF2-40B4-BE49-F238E27FC236}">
                <a16:creationId xmlns:a16="http://schemas.microsoft.com/office/drawing/2014/main" id="{6223CD7A-9ED4-498B-236F-489ADB2BD093}"/>
              </a:ext>
            </a:extLst>
          </p:cNvPr>
          <p:cNvSpPr txBox="1"/>
          <p:nvPr userDrawn="1"/>
        </p:nvSpPr>
        <p:spPr>
          <a:xfrm>
            <a:off x="7404444" y="6405017"/>
            <a:ext cx="4787556" cy="369332"/>
          </a:xfrm>
          <a:prstGeom prst="rect">
            <a:avLst/>
          </a:prstGeom>
          <a:noFill/>
        </p:spPr>
        <p:txBody>
          <a:bodyPr wrap="square" rtlCol="0" anchor="ctr">
            <a:spAutoFit/>
          </a:bodyPr>
          <a:lstStyle/>
          <a:p>
            <a:pPr algn="ctr"/>
            <a:r>
              <a:rPr lang="en-US" sz="1800" b="1" i="1" dirty="0">
                <a:solidFill>
                  <a:schemeClr val="bg1"/>
                </a:solidFill>
                <a:latin typeface="Helvetica" pitchFamily="2" charset="0"/>
              </a:rPr>
              <a:t>Digitally-focused  |  Humanity-centric</a:t>
            </a:r>
          </a:p>
        </p:txBody>
      </p:sp>
    </p:spTree>
    <p:extLst>
      <p:ext uri="{BB962C8B-B14F-4D97-AF65-F5344CB8AC3E}">
        <p14:creationId xmlns:p14="http://schemas.microsoft.com/office/powerpoint/2010/main" val="88465904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normAutofit/>
          </a:bodyPr>
          <a:lstStyle>
            <a:lvl1pPr>
              <a:defRPr sz="5400" b="1">
                <a:solidFill>
                  <a:srgbClr val="BD4C5F"/>
                </a:solidFill>
                <a:latin typeface="Helvetica" pitchFamily="2" charset="0"/>
              </a:defRPr>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rgbClr val="585858"/>
                </a:solidFill>
                <a:latin typeface="Helvetica" pitchFamily="2"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31586633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69E59-8F90-2CEA-C0E0-678ADDA83992}"/>
              </a:ext>
            </a:extLst>
          </p:cNvPr>
          <p:cNvSpPr>
            <a:spLocks noGrp="1"/>
          </p:cNvSpPr>
          <p:nvPr>
            <p:ph type="title"/>
          </p:nvPr>
        </p:nvSpPr>
        <p:spPr/>
        <p:txBody>
          <a:bodyPr/>
          <a:lstStyle>
            <a:lvl1pPr>
              <a:defRPr b="1">
                <a:solidFill>
                  <a:srgbClr val="7E5696"/>
                </a:solidFill>
                <a:latin typeface="Helvetica" pitchFamily="2" charset="0"/>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FD7B8A65-62E9-891B-B5E3-A9B4B9EB5D86}"/>
              </a:ext>
            </a:extLst>
          </p:cNvPr>
          <p:cNvSpPr>
            <a:spLocks noGrp="1"/>
          </p:cNvSpPr>
          <p:nvPr>
            <p:ph type="body" orient="vert" idx="1"/>
          </p:nvPr>
        </p:nvSpPr>
        <p:spPr>
          <a:xfrm>
            <a:off x="838200" y="1825625"/>
            <a:ext cx="10515600" cy="4351338"/>
          </a:xfrm>
        </p:spPr>
        <p:txBody>
          <a:bodyPr vert="horz"/>
          <a:lstStyle>
            <a:lvl1pPr>
              <a:defRPr>
                <a:solidFill>
                  <a:srgbClr val="585858"/>
                </a:solidFill>
                <a:latin typeface="Helvetica" pitchFamily="2" charset="0"/>
              </a:defRPr>
            </a:lvl1pPr>
            <a:lvl2pPr marL="685800" indent="-228600">
              <a:buSzPct val="77000"/>
              <a:buFont typeface="Courier New" panose="02070309020205020404" pitchFamily="49" charset="0"/>
              <a:buChar char="o"/>
              <a:defRPr>
                <a:solidFill>
                  <a:srgbClr val="585858"/>
                </a:solidFill>
                <a:latin typeface="Helvetica" pitchFamily="2" charset="0"/>
              </a:defRPr>
            </a:lvl2pPr>
            <a:lvl3pPr marL="1143000" indent="-228600">
              <a:buSzPct val="84000"/>
              <a:buFont typeface="Wingdings" pitchFamily="2" charset="2"/>
              <a:buChar char="Ø"/>
              <a:defRPr>
                <a:solidFill>
                  <a:srgbClr val="585858"/>
                </a:solidFill>
                <a:latin typeface="Helvetica" pitchFamily="2" charset="0"/>
              </a:defRPr>
            </a:lvl3pPr>
            <a:lvl4pPr>
              <a:defRPr>
                <a:solidFill>
                  <a:srgbClr val="585858"/>
                </a:solidFill>
                <a:latin typeface="Helvetica" pitchFamily="2" charset="0"/>
              </a:defRPr>
            </a:lvl4pPr>
            <a:lvl5pPr>
              <a:defRPr>
                <a:solidFill>
                  <a:srgbClr val="585858"/>
                </a:solidFill>
                <a:latin typeface="Helvetica" pitchFamily="2"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96718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solidFill>
                  <a:srgbClr val="7E5696"/>
                </a:solidFill>
                <a:latin typeface="Helvetica" pitchFamily="2" charset="0"/>
              </a:defRPr>
            </a:lvl1p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lvl1pPr>
              <a:defRPr>
                <a:solidFill>
                  <a:srgbClr val="585858"/>
                </a:solidFill>
                <a:latin typeface="Helvetica" pitchFamily="2" charset="0"/>
              </a:defRPr>
            </a:lvl1pPr>
            <a:lvl2pPr>
              <a:defRPr>
                <a:solidFill>
                  <a:srgbClr val="585858"/>
                </a:solidFill>
                <a:latin typeface="Helvetica" pitchFamily="2" charset="0"/>
              </a:defRPr>
            </a:lvl2pPr>
            <a:lvl3pPr>
              <a:defRPr>
                <a:solidFill>
                  <a:srgbClr val="585858"/>
                </a:solidFill>
                <a:latin typeface="Helvetica" pitchFamily="2" charset="0"/>
              </a:defRPr>
            </a:lvl3pPr>
            <a:lvl4pPr>
              <a:defRPr>
                <a:solidFill>
                  <a:srgbClr val="585858"/>
                </a:solidFill>
                <a:latin typeface="Helvetica" pitchFamily="2" charset="0"/>
              </a:defRPr>
            </a:lvl4pPr>
            <a:lvl5pPr>
              <a:defRPr>
                <a:solidFill>
                  <a:srgbClr val="585858"/>
                </a:solidFill>
                <a:latin typeface="Helvetica" pitchFamily="2"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lvl1pPr>
              <a:defRPr>
                <a:solidFill>
                  <a:srgbClr val="585858"/>
                </a:solidFill>
                <a:latin typeface="Helvetica" pitchFamily="2" charset="0"/>
              </a:defRPr>
            </a:lvl1pPr>
            <a:lvl2pPr>
              <a:defRPr>
                <a:solidFill>
                  <a:srgbClr val="585858"/>
                </a:solidFill>
                <a:latin typeface="Helvetica" pitchFamily="2" charset="0"/>
              </a:defRPr>
            </a:lvl2pPr>
            <a:lvl3pPr>
              <a:defRPr>
                <a:solidFill>
                  <a:srgbClr val="585858"/>
                </a:solidFill>
                <a:latin typeface="Helvetica" pitchFamily="2" charset="0"/>
              </a:defRPr>
            </a:lvl3pPr>
            <a:lvl4pPr>
              <a:defRPr>
                <a:solidFill>
                  <a:srgbClr val="585858"/>
                </a:solidFill>
                <a:latin typeface="Helvetica" pitchFamily="2" charset="0"/>
              </a:defRPr>
            </a:lvl4pPr>
            <a:lvl5pPr>
              <a:defRPr>
                <a:solidFill>
                  <a:srgbClr val="585858"/>
                </a:solidFill>
                <a:latin typeface="Helvetica" pitchFamily="2"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739081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b="1">
                <a:solidFill>
                  <a:srgbClr val="7E5696"/>
                </a:solidFill>
                <a:latin typeface="Helvetica" pitchFamily="2" charset="0"/>
              </a:defRPr>
            </a:lvl1p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solidFill>
                  <a:srgbClr val="BD4C5F"/>
                </a:solidFill>
                <a:latin typeface="Helvetica"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lvl1pPr>
              <a:defRPr>
                <a:solidFill>
                  <a:srgbClr val="585858"/>
                </a:solidFill>
                <a:latin typeface="Helvetica" pitchFamily="2" charset="0"/>
              </a:defRPr>
            </a:lvl1pPr>
            <a:lvl2pPr>
              <a:defRPr>
                <a:solidFill>
                  <a:srgbClr val="585858"/>
                </a:solidFill>
                <a:latin typeface="Helvetica" pitchFamily="2" charset="0"/>
              </a:defRPr>
            </a:lvl2pPr>
            <a:lvl3pPr>
              <a:defRPr>
                <a:solidFill>
                  <a:srgbClr val="585858"/>
                </a:solidFill>
                <a:latin typeface="Helvetica" pitchFamily="2" charset="0"/>
              </a:defRPr>
            </a:lvl3pPr>
            <a:lvl4pPr>
              <a:defRPr>
                <a:solidFill>
                  <a:srgbClr val="585858"/>
                </a:solidFill>
                <a:latin typeface="Helvetica" pitchFamily="2" charset="0"/>
              </a:defRPr>
            </a:lvl4pPr>
            <a:lvl5pPr>
              <a:defRPr>
                <a:solidFill>
                  <a:srgbClr val="585858"/>
                </a:solidFill>
                <a:latin typeface="Helvetica" pitchFamily="2"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solidFill>
                  <a:srgbClr val="BD4C5F"/>
                </a:solidFill>
                <a:latin typeface="Helvetica"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lvl1pPr>
              <a:defRPr>
                <a:solidFill>
                  <a:srgbClr val="585858"/>
                </a:solidFill>
                <a:latin typeface="Helvetica" pitchFamily="2" charset="0"/>
              </a:defRPr>
            </a:lvl1pPr>
            <a:lvl2pPr>
              <a:defRPr>
                <a:solidFill>
                  <a:srgbClr val="585858"/>
                </a:solidFill>
                <a:latin typeface="Helvetica" pitchFamily="2" charset="0"/>
              </a:defRPr>
            </a:lvl2pPr>
            <a:lvl3pPr>
              <a:defRPr>
                <a:solidFill>
                  <a:srgbClr val="585858"/>
                </a:solidFill>
                <a:latin typeface="Helvetica" pitchFamily="2" charset="0"/>
              </a:defRPr>
            </a:lvl3pPr>
            <a:lvl4pPr>
              <a:defRPr>
                <a:solidFill>
                  <a:srgbClr val="585858"/>
                </a:solidFill>
                <a:latin typeface="Helvetica" pitchFamily="2" charset="0"/>
              </a:defRPr>
            </a:lvl4pPr>
            <a:lvl5pPr>
              <a:defRPr>
                <a:solidFill>
                  <a:srgbClr val="585858"/>
                </a:solidFill>
                <a:latin typeface="Helvetica" pitchFamily="2"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150515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solidFill>
                  <a:srgbClr val="7E5696"/>
                </a:solidFill>
                <a:latin typeface="Helvetica" pitchFamily="2" charset="0"/>
              </a:defRPr>
            </a:lvl1pPr>
          </a:lstStyle>
          <a:p>
            <a:r>
              <a:rPr lang="en-US" dirty="0"/>
              <a:t>Click to edit Master title style</a:t>
            </a:r>
          </a:p>
        </p:txBody>
      </p:sp>
    </p:spTree>
    <p:extLst>
      <p:ext uri="{BB962C8B-B14F-4D97-AF65-F5344CB8AC3E}">
        <p14:creationId xmlns:p14="http://schemas.microsoft.com/office/powerpoint/2010/main" val="96100610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42146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42657993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4765489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328778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0" name="Picture 9"/>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376969" y="6396599"/>
            <a:ext cx="735461" cy="261040"/>
          </a:xfrm>
          <a:prstGeom prst="rect">
            <a:avLst/>
          </a:prstGeom>
        </p:spPr>
      </p:pic>
      <p:pic>
        <p:nvPicPr>
          <p:cNvPr id="12" name="Picture 11"/>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826213" y="2641600"/>
            <a:ext cx="3365787" cy="4216400"/>
          </a:xfrm>
          <a:prstGeom prst="rect">
            <a:avLst/>
          </a:prstGeom>
        </p:spPr>
      </p:pic>
    </p:spTree>
    <p:extLst>
      <p:ext uri="{BB962C8B-B14F-4D97-AF65-F5344CB8AC3E}">
        <p14:creationId xmlns:p14="http://schemas.microsoft.com/office/powerpoint/2010/main" val="523487169"/>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60" r:id="rId3"/>
    <p:sldLayoutId id="2147483652" r:id="rId4"/>
    <p:sldLayoutId id="2147483653" r:id="rId5"/>
    <p:sldLayoutId id="2147483654" r:id="rId6"/>
    <p:sldLayoutId id="2147483655" r:id="rId7"/>
    <p:sldLayoutId id="2147483656" r:id="rId8"/>
    <p:sldLayoutId id="2147483657" r:id="rId9"/>
    <p:sldLayoutId id="2147483659" r:id="rId10"/>
  </p:sldLayoutIdLst>
  <p:hf hdr="0" dt="0"/>
  <p:txStyles>
    <p:titleStyle>
      <a:lvl1pPr algn="l" defTabSz="914400" rtl="0" eaLnBrk="1" latinLnBrk="0" hangingPunct="1">
        <a:lnSpc>
          <a:spcPct val="90000"/>
        </a:lnSpc>
        <a:spcBef>
          <a:spcPct val="0"/>
        </a:spcBef>
        <a:buNone/>
        <a:defRPr sz="4400" b="1" kern="1200">
          <a:solidFill>
            <a:srgbClr val="7E5696"/>
          </a:solidFill>
          <a:latin typeface="Helvetica"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585858"/>
          </a:solidFill>
          <a:latin typeface="Helvetica"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585858"/>
          </a:solidFill>
          <a:latin typeface="Helvetica"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585858"/>
          </a:solidFill>
          <a:latin typeface="Helvetica"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585858"/>
          </a:solidFill>
          <a:latin typeface="Helvetica"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585858"/>
          </a:solidFill>
          <a:latin typeface="Helvetica"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7401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76C89D0-A5BE-6AED-CF50-C8E3854BA0E7}"/>
              </a:ext>
            </a:extLst>
          </p:cNvPr>
          <p:cNvSpPr txBox="1"/>
          <p:nvPr/>
        </p:nvSpPr>
        <p:spPr>
          <a:xfrm>
            <a:off x="351313" y="1075771"/>
            <a:ext cx="10926288" cy="4006931"/>
          </a:xfrm>
          <a:prstGeom prst="rect">
            <a:avLst/>
          </a:prstGeom>
          <a:noFill/>
        </p:spPr>
        <p:txBody>
          <a:bodyPr wrap="square">
            <a:spAutoFit/>
          </a:bodyPr>
          <a:lstStyle/>
          <a:p>
            <a:pPr marL="0" marR="0">
              <a:lnSpc>
                <a:spcPct val="115000"/>
              </a:lnSpc>
              <a:spcAft>
                <a:spcPts val="1000"/>
              </a:spcAft>
              <a:buNone/>
            </a:pPr>
            <a:r>
              <a:rPr lang="en-US" sz="2400" b="1" dirty="0" smtClean="0">
                <a:effectLst/>
                <a:latin typeface="Cambria" panose="02040503050406030204" pitchFamily="18" charset="0"/>
                <a:ea typeface="MS Mincho" panose="02020609040205080304" pitchFamily="49" charset="-128"/>
                <a:cs typeface="Times New Roman" panose="02020603050405020304" pitchFamily="18" charset="0"/>
              </a:rPr>
              <a:t>1. Job </a:t>
            </a:r>
            <a:r>
              <a:rPr lang="en-US" sz="2400" b="1" dirty="0">
                <a:effectLst/>
                <a:latin typeface="Cambria" panose="02040503050406030204" pitchFamily="18" charset="0"/>
                <a:ea typeface="MS Mincho" panose="02020609040205080304" pitchFamily="49" charset="-128"/>
                <a:cs typeface="Times New Roman" panose="02020603050405020304" pitchFamily="18" charset="0"/>
              </a:rPr>
              <a:t>Title and Summary</a:t>
            </a:r>
            <a:r>
              <a:rPr lang="en-US" sz="2400" dirty="0">
                <a:effectLst/>
                <a:latin typeface="Cambria" panose="02040503050406030204" pitchFamily="18" charset="0"/>
                <a:ea typeface="MS Mincho" panose="02020609040205080304" pitchFamily="49" charset="-128"/>
                <a:cs typeface="Times New Roman" panose="02020603050405020304" pitchFamily="18" charset="0"/>
              </a:rPr>
              <a:t/>
            </a:r>
            <a:br>
              <a:rPr lang="en-US" sz="2400" dirty="0">
                <a:effectLst/>
                <a:latin typeface="Cambria" panose="02040503050406030204" pitchFamily="18" charset="0"/>
                <a:ea typeface="MS Mincho" panose="02020609040205080304" pitchFamily="49" charset="-128"/>
                <a:cs typeface="Times New Roman" panose="02020603050405020304" pitchFamily="18" charset="0"/>
              </a:rPr>
            </a:br>
            <a:r>
              <a:rPr lang="en-US" sz="2400" dirty="0">
                <a:effectLst/>
                <a:latin typeface="Cambria" panose="02040503050406030204" pitchFamily="18" charset="0"/>
                <a:ea typeface="MS Mincho" panose="02020609040205080304" pitchFamily="49" charset="-128"/>
                <a:cs typeface="Times New Roman" panose="02020603050405020304" pitchFamily="18" charset="0"/>
              </a:rPr>
              <a:t>- What is the role called</a:t>
            </a:r>
            <a:r>
              <a:rPr lang="en-US" sz="2400" dirty="0" smtClean="0">
                <a:effectLst/>
                <a:latin typeface="Cambria" panose="02040503050406030204" pitchFamily="18" charset="0"/>
                <a:ea typeface="MS Mincho" panose="02020609040205080304" pitchFamily="49" charset="-128"/>
                <a:cs typeface="Times New Roman" panose="02020603050405020304" pitchFamily="18" charset="0"/>
              </a:rPr>
              <a:t>? </a:t>
            </a:r>
            <a:r>
              <a:rPr lang="en-US" sz="2400" b="1" dirty="0" smtClean="0">
                <a:effectLst/>
                <a:latin typeface="Cambria" panose="02040503050406030204" pitchFamily="18" charset="0"/>
                <a:ea typeface="MS Mincho" panose="02020609040205080304" pitchFamily="49" charset="-128"/>
                <a:cs typeface="Times New Roman" panose="02020603050405020304" pitchFamily="18" charset="0"/>
              </a:rPr>
              <a:t>Backend Developer/Engineer</a:t>
            </a:r>
            <a:r>
              <a:rPr lang="en-US" sz="2400" dirty="0">
                <a:effectLst/>
                <a:latin typeface="Cambria" panose="02040503050406030204" pitchFamily="18" charset="0"/>
                <a:ea typeface="MS Mincho" panose="02020609040205080304" pitchFamily="49" charset="-128"/>
                <a:cs typeface="Times New Roman" panose="02020603050405020304" pitchFamily="18" charset="0"/>
              </a:rPr>
              <a:t/>
            </a:r>
            <a:br>
              <a:rPr lang="en-US" sz="2400" dirty="0">
                <a:effectLst/>
                <a:latin typeface="Cambria" panose="02040503050406030204" pitchFamily="18" charset="0"/>
                <a:ea typeface="MS Mincho" panose="02020609040205080304" pitchFamily="49" charset="-128"/>
                <a:cs typeface="Times New Roman" panose="02020603050405020304" pitchFamily="18" charset="0"/>
              </a:rPr>
            </a:br>
            <a:r>
              <a:rPr lang="en-US" sz="2400" dirty="0">
                <a:effectLst/>
                <a:latin typeface="Cambria" panose="02040503050406030204" pitchFamily="18" charset="0"/>
                <a:ea typeface="MS Mincho" panose="02020609040205080304" pitchFamily="49" charset="-128"/>
                <a:cs typeface="Times New Roman" panose="02020603050405020304" pitchFamily="18" charset="0"/>
              </a:rPr>
              <a:t>- Write a short 2–3 sentence summary that explains what the role does and why it exists</a:t>
            </a:r>
            <a:r>
              <a:rPr lang="en-US" sz="2400" dirty="0" smtClean="0">
                <a:effectLst/>
                <a:latin typeface="Cambria" panose="02040503050406030204" pitchFamily="18" charset="0"/>
                <a:ea typeface="MS Mincho" panose="02020609040205080304" pitchFamily="49" charset="-128"/>
                <a:cs typeface="Times New Roman" panose="02020603050405020304" pitchFamily="18" charset="0"/>
              </a:rPr>
              <a:t>.</a:t>
            </a:r>
          </a:p>
          <a:p>
            <a:pPr marL="800100" lvl="1" indent="-342900">
              <a:lnSpc>
                <a:spcPct val="115000"/>
              </a:lnSpc>
              <a:spcAft>
                <a:spcPts val="1000"/>
              </a:spcAft>
              <a:buFont typeface="Arial" panose="020B0604020202020204" pitchFamily="34" charset="0"/>
              <a:buChar char="•"/>
            </a:pPr>
            <a:r>
              <a:rPr lang="en-US" sz="2400" dirty="0">
                <a:latin typeface="Cambria" panose="02040503050406030204" pitchFamily="18" charset="0"/>
                <a:ea typeface="MS Mincho" panose="02020609040205080304" pitchFamily="49" charset="-128"/>
                <a:cs typeface="Times New Roman" panose="02020603050405020304" pitchFamily="18" charset="0"/>
              </a:rPr>
              <a:t>A Backend Developer builds and maintains the server-side logic, databases, and APIs that power web and mobile apps. They focus on data flow, business logic, and integration layers to ensure applications run smoothly and securely. Essentially, they create the hidden foundation that makes frontend experiences possible</a:t>
            </a:r>
            <a:r>
              <a:rPr lang="en-US" sz="2400" dirty="0" smtClean="0">
                <a:latin typeface="Cambria" panose="02040503050406030204" pitchFamily="18" charset="0"/>
                <a:ea typeface="MS Mincho" panose="02020609040205080304" pitchFamily="49" charset="-128"/>
                <a:cs typeface="Times New Roman" panose="02020603050405020304" pitchFamily="18" charset="0"/>
              </a:rPr>
              <a:t>.</a:t>
            </a:r>
            <a:endParaRPr lang="en-US" sz="2400" dirty="0">
              <a:effectLst/>
              <a:latin typeface="Cambria" panose="02040503050406030204" pitchFamily="18" charset="0"/>
              <a:ea typeface="MS Mincho" panose="02020609040205080304" pitchFamily="49" charset="-128"/>
              <a:cs typeface="Times New Roman" panose="02020603050405020304" pitchFamily="18" charset="0"/>
            </a:endParaRPr>
          </a:p>
        </p:txBody>
      </p:sp>
      <p:sp>
        <p:nvSpPr>
          <p:cNvPr id="9" name="Title 1">
            <a:extLst>
              <a:ext uri="{FF2B5EF4-FFF2-40B4-BE49-F238E27FC236}">
                <a16:creationId xmlns:a16="http://schemas.microsoft.com/office/drawing/2014/main" id="{3903BC70-FACF-ADC5-A43E-C2670B9FC8ED}"/>
              </a:ext>
            </a:extLst>
          </p:cNvPr>
          <p:cNvSpPr>
            <a:spLocks noGrp="1"/>
          </p:cNvSpPr>
          <p:nvPr>
            <p:ph type="title"/>
          </p:nvPr>
        </p:nvSpPr>
        <p:spPr>
          <a:xfrm>
            <a:off x="351312" y="249382"/>
            <a:ext cx="10515600" cy="695134"/>
          </a:xfrm>
        </p:spPr>
        <p:txBody>
          <a:bodyPr/>
          <a:lstStyle/>
          <a:p>
            <a:r>
              <a:rPr lang="en-US" dirty="0" smtClean="0"/>
              <a:t>Lisa’s Job </a:t>
            </a:r>
            <a:r>
              <a:rPr lang="en-US" dirty="0"/>
              <a:t>Description</a:t>
            </a:r>
          </a:p>
        </p:txBody>
      </p:sp>
    </p:spTree>
    <p:extLst>
      <p:ext uri="{BB962C8B-B14F-4D97-AF65-F5344CB8AC3E}">
        <p14:creationId xmlns:p14="http://schemas.microsoft.com/office/powerpoint/2010/main" val="86049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76C89D0-A5BE-6AED-CF50-C8E3854BA0E7}"/>
              </a:ext>
            </a:extLst>
          </p:cNvPr>
          <p:cNvSpPr txBox="1"/>
          <p:nvPr/>
        </p:nvSpPr>
        <p:spPr>
          <a:xfrm>
            <a:off x="351312" y="988487"/>
            <a:ext cx="11566071" cy="5025671"/>
          </a:xfrm>
          <a:prstGeom prst="rect">
            <a:avLst/>
          </a:prstGeom>
          <a:noFill/>
        </p:spPr>
        <p:txBody>
          <a:bodyPr wrap="square">
            <a:spAutoFit/>
          </a:bodyPr>
          <a:lstStyle/>
          <a:p>
            <a:pPr marL="0" marR="0">
              <a:lnSpc>
                <a:spcPct val="115000"/>
              </a:lnSpc>
              <a:spcAft>
                <a:spcPts val="1000"/>
              </a:spcAft>
              <a:buNone/>
            </a:pPr>
            <a:r>
              <a:rPr lang="en-US" sz="2200" b="1" dirty="0" smtClean="0">
                <a:effectLst/>
                <a:latin typeface="Cambria" panose="02040503050406030204" pitchFamily="18" charset="0"/>
                <a:ea typeface="MS Mincho" panose="02020609040205080304" pitchFamily="49" charset="-128"/>
                <a:cs typeface="Times New Roman" panose="02020603050405020304" pitchFamily="18" charset="0"/>
              </a:rPr>
              <a:t>2</a:t>
            </a:r>
            <a:r>
              <a:rPr lang="en-US" sz="2200" b="1" dirty="0">
                <a:effectLst/>
                <a:latin typeface="Cambria" panose="02040503050406030204" pitchFamily="18" charset="0"/>
                <a:ea typeface="MS Mincho" panose="02020609040205080304" pitchFamily="49" charset="-128"/>
                <a:cs typeface="Times New Roman" panose="02020603050405020304" pitchFamily="18" charset="0"/>
              </a:rPr>
              <a:t>. Responsibilities</a:t>
            </a:r>
            <a:r>
              <a:rPr lang="en-US" sz="2200" dirty="0">
                <a:effectLst/>
                <a:latin typeface="Cambria" panose="02040503050406030204" pitchFamily="18" charset="0"/>
                <a:ea typeface="MS Mincho" panose="02020609040205080304" pitchFamily="49" charset="-128"/>
                <a:cs typeface="Times New Roman" panose="02020603050405020304" pitchFamily="18" charset="0"/>
              </a:rPr>
              <a:t/>
            </a:r>
            <a:br>
              <a:rPr lang="en-US" sz="2200" dirty="0">
                <a:effectLst/>
                <a:latin typeface="Cambria" panose="02040503050406030204" pitchFamily="18" charset="0"/>
                <a:ea typeface="MS Mincho" panose="02020609040205080304" pitchFamily="49" charset="-128"/>
                <a:cs typeface="Times New Roman" panose="02020603050405020304" pitchFamily="18" charset="0"/>
              </a:rPr>
            </a:br>
            <a:r>
              <a:rPr lang="en-US" sz="2200" dirty="0">
                <a:effectLst/>
                <a:latin typeface="Cambria" panose="02040503050406030204" pitchFamily="18" charset="0"/>
                <a:ea typeface="MS Mincho" panose="02020609040205080304" pitchFamily="49" charset="-128"/>
                <a:cs typeface="Times New Roman" panose="02020603050405020304" pitchFamily="18" charset="0"/>
              </a:rPr>
              <a:t>- List 5–7 tasks or duties this role performs regularly.</a:t>
            </a:r>
            <a:br>
              <a:rPr lang="en-US" sz="2200" dirty="0">
                <a:effectLst/>
                <a:latin typeface="Cambria" panose="02040503050406030204" pitchFamily="18" charset="0"/>
                <a:ea typeface="MS Mincho" panose="02020609040205080304" pitchFamily="49" charset="-128"/>
                <a:cs typeface="Times New Roman" panose="02020603050405020304" pitchFamily="18" charset="0"/>
              </a:rPr>
            </a:br>
            <a:r>
              <a:rPr lang="en-US" sz="2200" dirty="0" smtClean="0">
                <a:effectLst/>
                <a:latin typeface="Cambria" panose="02040503050406030204" pitchFamily="18" charset="0"/>
                <a:ea typeface="MS Mincho" panose="02020609040205080304" pitchFamily="49" charset="-128"/>
                <a:cs typeface="Times New Roman" panose="02020603050405020304" pitchFamily="18" charset="0"/>
              </a:rPr>
              <a:t>- Example: “Maintain backend systems using Node.js,” “Respond to cybersecurity alerts.”</a:t>
            </a:r>
          </a:p>
          <a:p>
            <a:pPr marL="342900" indent="-342900">
              <a:lnSpc>
                <a:spcPct val="115000"/>
              </a:lnSpc>
              <a:spcAft>
                <a:spcPts val="1000"/>
              </a:spcAft>
              <a:buFont typeface="Arial" panose="020B0604020202020204" pitchFamily="34" charset="0"/>
              <a:buChar char="•"/>
            </a:pPr>
            <a:r>
              <a:rPr lang="en-US" sz="2200" dirty="0">
                <a:latin typeface="Cambria" panose="02040503050406030204" pitchFamily="18" charset="0"/>
                <a:ea typeface="MS Mincho" panose="02020609040205080304" pitchFamily="49" charset="-128"/>
                <a:cs typeface="Times New Roman" panose="02020603050405020304" pitchFamily="18" charset="0"/>
              </a:rPr>
              <a:t>Write and maintain clean, efficient server-side logic and REST/</a:t>
            </a:r>
            <a:r>
              <a:rPr lang="en-US" sz="2200" dirty="0" err="1">
                <a:latin typeface="Cambria" panose="02040503050406030204" pitchFamily="18" charset="0"/>
                <a:ea typeface="MS Mincho" panose="02020609040205080304" pitchFamily="49" charset="-128"/>
                <a:cs typeface="Times New Roman" panose="02020603050405020304" pitchFamily="18" charset="0"/>
              </a:rPr>
              <a:t>GraphQL</a:t>
            </a:r>
            <a:r>
              <a:rPr lang="en-US" sz="2200" dirty="0">
                <a:latin typeface="Cambria" panose="02040503050406030204" pitchFamily="18" charset="0"/>
                <a:ea typeface="MS Mincho" panose="02020609040205080304" pitchFamily="49" charset="-128"/>
                <a:cs typeface="Times New Roman" panose="02020603050405020304" pitchFamily="18" charset="0"/>
              </a:rPr>
              <a:t> APIs</a:t>
            </a:r>
            <a:r>
              <a:rPr lang="en-US" sz="2200" dirty="0" smtClean="0">
                <a:latin typeface="Cambria" panose="02040503050406030204" pitchFamily="18" charset="0"/>
                <a:ea typeface="MS Mincho" panose="02020609040205080304" pitchFamily="49" charset="-128"/>
                <a:cs typeface="Times New Roman" panose="02020603050405020304" pitchFamily="18" charset="0"/>
              </a:rPr>
              <a:t>.</a:t>
            </a:r>
          </a:p>
          <a:p>
            <a:pPr marL="342900" indent="-342900">
              <a:lnSpc>
                <a:spcPct val="115000"/>
              </a:lnSpc>
              <a:spcAft>
                <a:spcPts val="1000"/>
              </a:spcAft>
              <a:buFont typeface="Arial" panose="020B0604020202020204" pitchFamily="34" charset="0"/>
              <a:buChar char="•"/>
            </a:pPr>
            <a:r>
              <a:rPr lang="en-US" sz="2200" dirty="0" smtClean="0">
                <a:latin typeface="Cambria" panose="02040503050406030204" pitchFamily="18" charset="0"/>
                <a:ea typeface="MS Mincho" panose="02020609040205080304" pitchFamily="49" charset="-128"/>
                <a:cs typeface="Times New Roman" panose="02020603050405020304" pitchFamily="18" charset="0"/>
              </a:rPr>
              <a:t>Design</a:t>
            </a:r>
            <a:r>
              <a:rPr lang="en-US" sz="2200" dirty="0">
                <a:latin typeface="Cambria" panose="02040503050406030204" pitchFamily="18" charset="0"/>
                <a:ea typeface="MS Mincho" panose="02020609040205080304" pitchFamily="49" charset="-128"/>
                <a:cs typeface="Times New Roman" panose="02020603050405020304" pitchFamily="18" charset="0"/>
              </a:rPr>
              <a:t>, implement, and optimize databases (SQL and NoSQL</a:t>
            </a:r>
            <a:r>
              <a:rPr lang="en-US" sz="2200" dirty="0" smtClean="0">
                <a:latin typeface="Cambria" panose="02040503050406030204" pitchFamily="18" charset="0"/>
                <a:ea typeface="MS Mincho" panose="02020609040205080304" pitchFamily="49" charset="-128"/>
                <a:cs typeface="Times New Roman" panose="02020603050405020304" pitchFamily="18" charset="0"/>
              </a:rPr>
              <a:t>).</a:t>
            </a:r>
          </a:p>
          <a:p>
            <a:pPr marL="342900" indent="-342900">
              <a:lnSpc>
                <a:spcPct val="115000"/>
              </a:lnSpc>
              <a:spcAft>
                <a:spcPts val="1000"/>
              </a:spcAft>
              <a:buFont typeface="Arial" panose="020B0604020202020204" pitchFamily="34" charset="0"/>
              <a:buChar char="•"/>
            </a:pPr>
            <a:r>
              <a:rPr lang="en-US" sz="2200" dirty="0" smtClean="0">
                <a:latin typeface="Cambria" panose="02040503050406030204" pitchFamily="18" charset="0"/>
                <a:ea typeface="MS Mincho" panose="02020609040205080304" pitchFamily="49" charset="-128"/>
                <a:cs typeface="Times New Roman" panose="02020603050405020304" pitchFamily="18" charset="0"/>
              </a:rPr>
              <a:t>Collaborate </a:t>
            </a:r>
            <a:r>
              <a:rPr lang="en-US" sz="2200" dirty="0">
                <a:latin typeface="Cambria" panose="02040503050406030204" pitchFamily="18" charset="0"/>
                <a:ea typeface="MS Mincho" panose="02020609040205080304" pitchFamily="49" charset="-128"/>
                <a:cs typeface="Times New Roman" panose="02020603050405020304" pitchFamily="18" charset="0"/>
              </a:rPr>
              <a:t>with frontend </a:t>
            </a:r>
            <a:r>
              <a:rPr lang="en-US" sz="2200" dirty="0" err="1">
                <a:latin typeface="Cambria" panose="02040503050406030204" pitchFamily="18" charset="0"/>
                <a:ea typeface="MS Mincho" panose="02020609040205080304" pitchFamily="49" charset="-128"/>
                <a:cs typeface="Times New Roman" panose="02020603050405020304" pitchFamily="18" charset="0"/>
              </a:rPr>
              <a:t>devs</a:t>
            </a:r>
            <a:r>
              <a:rPr lang="en-US" sz="2200" dirty="0">
                <a:latin typeface="Cambria" panose="02040503050406030204" pitchFamily="18" charset="0"/>
                <a:ea typeface="MS Mincho" panose="02020609040205080304" pitchFamily="49" charset="-128"/>
                <a:cs typeface="Times New Roman" panose="02020603050405020304" pitchFamily="18" charset="0"/>
              </a:rPr>
              <a:t> to integrate services and ensure seamless data flow. </a:t>
            </a:r>
            <a:endParaRPr lang="en-US" sz="2200" dirty="0" smtClean="0">
              <a:latin typeface="Cambria" panose="02040503050406030204" pitchFamily="18" charset="0"/>
              <a:ea typeface="MS Mincho" panose="02020609040205080304" pitchFamily="49" charset="-128"/>
              <a:cs typeface="Times New Roman" panose="02020603050405020304" pitchFamily="18" charset="0"/>
            </a:endParaRPr>
          </a:p>
          <a:p>
            <a:pPr marL="342900" indent="-342900">
              <a:lnSpc>
                <a:spcPct val="115000"/>
              </a:lnSpc>
              <a:spcAft>
                <a:spcPts val="1000"/>
              </a:spcAft>
              <a:buFont typeface="Arial" panose="020B0604020202020204" pitchFamily="34" charset="0"/>
              <a:buChar char="•"/>
            </a:pPr>
            <a:r>
              <a:rPr lang="en-US" sz="2200" dirty="0" smtClean="0">
                <a:latin typeface="Cambria" panose="02040503050406030204" pitchFamily="18" charset="0"/>
                <a:ea typeface="MS Mincho" panose="02020609040205080304" pitchFamily="49" charset="-128"/>
                <a:cs typeface="Times New Roman" panose="02020603050405020304" pitchFamily="18" charset="0"/>
              </a:rPr>
              <a:t>Debug backend </a:t>
            </a:r>
            <a:r>
              <a:rPr lang="en-US" sz="2200" dirty="0">
                <a:latin typeface="Cambria" panose="02040503050406030204" pitchFamily="18" charset="0"/>
                <a:ea typeface="MS Mincho" panose="02020609040205080304" pitchFamily="49" charset="-128"/>
                <a:cs typeface="Times New Roman" panose="02020603050405020304" pitchFamily="18" charset="0"/>
              </a:rPr>
              <a:t>code, fix bugs, and improve performance and scalability. </a:t>
            </a:r>
            <a:endParaRPr lang="en-US" sz="2200" dirty="0" smtClean="0">
              <a:latin typeface="Cambria" panose="02040503050406030204" pitchFamily="18" charset="0"/>
              <a:ea typeface="MS Mincho" panose="02020609040205080304" pitchFamily="49" charset="-128"/>
              <a:cs typeface="Times New Roman" panose="02020603050405020304" pitchFamily="18" charset="0"/>
            </a:endParaRPr>
          </a:p>
          <a:p>
            <a:pPr marL="342900" indent="-342900">
              <a:lnSpc>
                <a:spcPct val="115000"/>
              </a:lnSpc>
              <a:spcAft>
                <a:spcPts val="1000"/>
              </a:spcAft>
              <a:buFont typeface="Arial" panose="020B0604020202020204" pitchFamily="34" charset="0"/>
              <a:buChar char="•"/>
            </a:pPr>
            <a:r>
              <a:rPr lang="en-US" sz="2200" dirty="0" smtClean="0">
                <a:latin typeface="Cambria" panose="02040503050406030204" pitchFamily="18" charset="0"/>
                <a:ea typeface="MS Mincho" panose="02020609040205080304" pitchFamily="49" charset="-128"/>
                <a:cs typeface="Times New Roman" panose="02020603050405020304" pitchFamily="18" charset="0"/>
              </a:rPr>
              <a:t>Implement </a:t>
            </a:r>
            <a:r>
              <a:rPr lang="en-US" sz="2200" dirty="0">
                <a:latin typeface="Cambria" panose="02040503050406030204" pitchFamily="18" charset="0"/>
                <a:ea typeface="MS Mincho" panose="02020609040205080304" pitchFamily="49" charset="-128"/>
                <a:cs typeface="Times New Roman" panose="02020603050405020304" pitchFamily="18" charset="0"/>
              </a:rPr>
              <a:t>security measures like authentication, authorization, and data </a:t>
            </a:r>
            <a:r>
              <a:rPr lang="en-US" sz="2200" dirty="0" smtClean="0">
                <a:latin typeface="Cambria" panose="02040503050406030204" pitchFamily="18" charset="0"/>
                <a:ea typeface="MS Mincho" panose="02020609040205080304" pitchFamily="49" charset="-128"/>
                <a:cs typeface="Times New Roman" panose="02020603050405020304" pitchFamily="18" charset="0"/>
              </a:rPr>
              <a:t>protection.</a:t>
            </a:r>
          </a:p>
          <a:p>
            <a:pPr marL="342900" indent="-342900">
              <a:lnSpc>
                <a:spcPct val="115000"/>
              </a:lnSpc>
              <a:spcAft>
                <a:spcPts val="1000"/>
              </a:spcAft>
              <a:buFont typeface="Arial" panose="020B0604020202020204" pitchFamily="34" charset="0"/>
              <a:buChar char="•"/>
            </a:pPr>
            <a:r>
              <a:rPr lang="en-US" sz="2200" dirty="0" smtClean="0">
                <a:latin typeface="Cambria" panose="02040503050406030204" pitchFamily="18" charset="0"/>
                <a:ea typeface="MS Mincho" panose="02020609040205080304" pitchFamily="49" charset="-128"/>
                <a:cs typeface="Times New Roman" panose="02020603050405020304" pitchFamily="18" charset="0"/>
              </a:rPr>
              <a:t>Deploy </a:t>
            </a:r>
            <a:r>
              <a:rPr lang="en-US" sz="2200" dirty="0">
                <a:latin typeface="Cambria" panose="02040503050406030204" pitchFamily="18" charset="0"/>
                <a:ea typeface="MS Mincho" panose="02020609040205080304" pitchFamily="49" charset="-128"/>
                <a:cs typeface="Times New Roman" panose="02020603050405020304" pitchFamily="18" charset="0"/>
              </a:rPr>
              <a:t>and manage backend services, using containerization and cloud </a:t>
            </a:r>
            <a:r>
              <a:rPr lang="en-US" sz="2200" dirty="0" smtClean="0">
                <a:latin typeface="Cambria" panose="02040503050406030204" pitchFamily="18" charset="0"/>
                <a:ea typeface="MS Mincho" panose="02020609040205080304" pitchFamily="49" charset="-128"/>
                <a:cs typeface="Times New Roman" panose="02020603050405020304" pitchFamily="18" charset="0"/>
              </a:rPr>
              <a:t>platforms.</a:t>
            </a:r>
          </a:p>
          <a:p>
            <a:pPr marL="342900" indent="-342900">
              <a:lnSpc>
                <a:spcPct val="115000"/>
              </a:lnSpc>
              <a:spcAft>
                <a:spcPts val="1000"/>
              </a:spcAft>
              <a:buFont typeface="Arial" panose="020B0604020202020204" pitchFamily="34" charset="0"/>
              <a:buChar char="•"/>
            </a:pPr>
            <a:r>
              <a:rPr lang="en-US" sz="2200" dirty="0" smtClean="0">
                <a:latin typeface="Cambria" panose="02040503050406030204" pitchFamily="18" charset="0"/>
                <a:ea typeface="MS Mincho" panose="02020609040205080304" pitchFamily="49" charset="-128"/>
                <a:cs typeface="Times New Roman" panose="02020603050405020304" pitchFamily="18" charset="0"/>
              </a:rPr>
              <a:t>Write </a:t>
            </a:r>
            <a:r>
              <a:rPr lang="en-US" sz="2200" dirty="0">
                <a:latin typeface="Cambria" panose="02040503050406030204" pitchFamily="18" charset="0"/>
                <a:ea typeface="MS Mincho" panose="02020609040205080304" pitchFamily="49" charset="-128"/>
                <a:cs typeface="Times New Roman" panose="02020603050405020304" pitchFamily="18" charset="0"/>
              </a:rPr>
              <a:t>tests (unit, integration) and maintain documentation. </a:t>
            </a:r>
            <a:endParaRPr lang="en-US" sz="2200" dirty="0">
              <a:effectLst/>
              <a:latin typeface="Cambria" panose="02040503050406030204" pitchFamily="18" charset="0"/>
              <a:ea typeface="MS Mincho" panose="02020609040205080304" pitchFamily="49" charset="-128"/>
              <a:cs typeface="Times New Roman" panose="02020603050405020304" pitchFamily="18" charset="0"/>
            </a:endParaRPr>
          </a:p>
        </p:txBody>
      </p:sp>
      <p:sp>
        <p:nvSpPr>
          <p:cNvPr id="9" name="Title 1">
            <a:extLst>
              <a:ext uri="{FF2B5EF4-FFF2-40B4-BE49-F238E27FC236}">
                <a16:creationId xmlns:a16="http://schemas.microsoft.com/office/drawing/2014/main" id="{3903BC70-FACF-ADC5-A43E-C2670B9FC8ED}"/>
              </a:ext>
            </a:extLst>
          </p:cNvPr>
          <p:cNvSpPr>
            <a:spLocks noGrp="1"/>
          </p:cNvSpPr>
          <p:nvPr>
            <p:ph type="title"/>
          </p:nvPr>
        </p:nvSpPr>
        <p:spPr>
          <a:xfrm>
            <a:off x="351312" y="249382"/>
            <a:ext cx="10515600" cy="695134"/>
          </a:xfrm>
        </p:spPr>
        <p:txBody>
          <a:bodyPr/>
          <a:lstStyle/>
          <a:p>
            <a:r>
              <a:rPr lang="en-US" dirty="0" smtClean="0"/>
              <a:t>Lisa’s Job </a:t>
            </a:r>
            <a:r>
              <a:rPr lang="en-US" dirty="0"/>
              <a:t>Description</a:t>
            </a:r>
          </a:p>
        </p:txBody>
      </p:sp>
    </p:spTree>
    <p:extLst>
      <p:ext uri="{BB962C8B-B14F-4D97-AF65-F5344CB8AC3E}">
        <p14:creationId xmlns:p14="http://schemas.microsoft.com/office/powerpoint/2010/main" val="975027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76C89D0-A5BE-6AED-CF50-C8E3854BA0E7}"/>
              </a:ext>
            </a:extLst>
          </p:cNvPr>
          <p:cNvSpPr txBox="1"/>
          <p:nvPr/>
        </p:nvSpPr>
        <p:spPr>
          <a:xfrm>
            <a:off x="351312" y="944516"/>
            <a:ext cx="11566071" cy="1636345"/>
          </a:xfrm>
          <a:prstGeom prst="rect">
            <a:avLst/>
          </a:prstGeom>
          <a:noFill/>
        </p:spPr>
        <p:txBody>
          <a:bodyPr wrap="square">
            <a:spAutoFit/>
          </a:bodyPr>
          <a:lstStyle/>
          <a:p>
            <a:pPr marL="0" marR="0">
              <a:lnSpc>
                <a:spcPct val="115000"/>
              </a:lnSpc>
              <a:spcAft>
                <a:spcPts val="1000"/>
              </a:spcAft>
              <a:buNone/>
            </a:pPr>
            <a:r>
              <a:rPr lang="en-US" sz="2000" b="1" dirty="0" smtClean="0">
                <a:effectLst/>
                <a:latin typeface="Cambria" panose="02040503050406030204" pitchFamily="18" charset="0"/>
                <a:ea typeface="MS Mincho" panose="02020609040205080304" pitchFamily="49" charset="-128"/>
                <a:cs typeface="Times New Roman" panose="02020603050405020304" pitchFamily="18" charset="0"/>
              </a:rPr>
              <a:t>3. Required Skills and Tools</a:t>
            </a:r>
            <a:r>
              <a:rPr lang="en-US" sz="2000" dirty="0" smtClean="0">
                <a:effectLst/>
                <a:latin typeface="Cambria" panose="02040503050406030204" pitchFamily="18" charset="0"/>
                <a:ea typeface="MS Mincho" panose="02020609040205080304" pitchFamily="49" charset="-128"/>
                <a:cs typeface="Times New Roman" panose="02020603050405020304" pitchFamily="18" charset="0"/>
              </a:rPr>
              <a:t/>
            </a:r>
            <a:br>
              <a:rPr lang="en-US" sz="2000" dirty="0" smtClean="0">
                <a:effectLst/>
                <a:latin typeface="Cambria" panose="02040503050406030204" pitchFamily="18" charset="0"/>
                <a:ea typeface="MS Mincho" panose="02020609040205080304" pitchFamily="49" charset="-128"/>
                <a:cs typeface="Times New Roman" panose="02020603050405020304" pitchFamily="18" charset="0"/>
              </a:rPr>
            </a:br>
            <a:r>
              <a:rPr lang="en-US" sz="2000" dirty="0" smtClean="0">
                <a:effectLst/>
                <a:latin typeface="Cambria" panose="02040503050406030204" pitchFamily="18" charset="0"/>
                <a:ea typeface="MS Mincho" panose="02020609040205080304" pitchFamily="49" charset="-128"/>
                <a:cs typeface="Times New Roman" panose="02020603050405020304" pitchFamily="18" charset="0"/>
              </a:rPr>
              <a:t>- What programming languages, tools, platforms, or soft skills are essential for this job?</a:t>
            </a:r>
            <a:br>
              <a:rPr lang="en-US" sz="2000" dirty="0" smtClean="0">
                <a:effectLst/>
                <a:latin typeface="Cambria" panose="02040503050406030204" pitchFamily="18" charset="0"/>
                <a:ea typeface="MS Mincho" panose="02020609040205080304" pitchFamily="49" charset="-128"/>
                <a:cs typeface="Times New Roman" panose="02020603050405020304" pitchFamily="18" charset="0"/>
              </a:rPr>
            </a:br>
            <a:r>
              <a:rPr lang="en-US" sz="2000" dirty="0" smtClean="0">
                <a:effectLst/>
                <a:latin typeface="Cambria" panose="02040503050406030204" pitchFamily="18" charset="0"/>
                <a:ea typeface="MS Mincho" panose="02020609040205080304" pitchFamily="49" charset="-128"/>
                <a:cs typeface="Times New Roman" panose="02020603050405020304" pitchFamily="18" charset="0"/>
              </a:rPr>
              <a:t>- Example: Python, Linux, teamwork, </a:t>
            </a:r>
            <a:r>
              <a:rPr lang="en-US" sz="2000" dirty="0" err="1" smtClean="0">
                <a:effectLst/>
                <a:latin typeface="Cambria" panose="02040503050406030204" pitchFamily="18" charset="0"/>
                <a:ea typeface="MS Mincho" panose="02020609040205080304" pitchFamily="49" charset="-128"/>
                <a:cs typeface="Times New Roman" panose="02020603050405020304" pitchFamily="18" charset="0"/>
              </a:rPr>
              <a:t>Git</a:t>
            </a:r>
            <a:r>
              <a:rPr lang="en-US" sz="2000" dirty="0" smtClean="0">
                <a:effectLst/>
                <a:latin typeface="Cambria" panose="02040503050406030204" pitchFamily="18" charset="0"/>
                <a:ea typeface="MS Mincho" panose="02020609040205080304" pitchFamily="49" charset="-128"/>
                <a:cs typeface="Times New Roman" panose="02020603050405020304" pitchFamily="18" charset="0"/>
              </a:rPr>
              <a:t>.</a:t>
            </a:r>
          </a:p>
          <a:p>
            <a:pPr marL="0" marR="0">
              <a:lnSpc>
                <a:spcPct val="115000"/>
              </a:lnSpc>
              <a:spcAft>
                <a:spcPts val="1000"/>
              </a:spcAft>
              <a:buNone/>
            </a:pPr>
            <a:endParaRPr lang="en-US" sz="2000" dirty="0" smtClean="0">
              <a:effectLst/>
              <a:latin typeface="Cambria" panose="02040503050406030204" pitchFamily="18" charset="0"/>
              <a:ea typeface="MS Mincho" panose="02020609040205080304" pitchFamily="49" charset="-128"/>
              <a:cs typeface="Times New Roman" panose="02020603050405020304" pitchFamily="18" charset="0"/>
            </a:endParaRPr>
          </a:p>
        </p:txBody>
      </p:sp>
      <p:sp>
        <p:nvSpPr>
          <p:cNvPr id="9" name="Title 1">
            <a:extLst>
              <a:ext uri="{FF2B5EF4-FFF2-40B4-BE49-F238E27FC236}">
                <a16:creationId xmlns:a16="http://schemas.microsoft.com/office/drawing/2014/main" id="{3903BC70-FACF-ADC5-A43E-C2670B9FC8ED}"/>
              </a:ext>
            </a:extLst>
          </p:cNvPr>
          <p:cNvSpPr>
            <a:spLocks noGrp="1"/>
          </p:cNvSpPr>
          <p:nvPr>
            <p:ph type="title"/>
          </p:nvPr>
        </p:nvSpPr>
        <p:spPr>
          <a:xfrm>
            <a:off x="351312" y="249382"/>
            <a:ext cx="10515600" cy="695134"/>
          </a:xfrm>
        </p:spPr>
        <p:txBody>
          <a:bodyPr/>
          <a:lstStyle/>
          <a:p>
            <a:r>
              <a:rPr lang="en-US" dirty="0" smtClean="0"/>
              <a:t>Lisa’s Job </a:t>
            </a:r>
            <a:r>
              <a:rPr lang="en-US" dirty="0"/>
              <a:t>Description</a:t>
            </a:r>
          </a:p>
        </p:txBody>
      </p:sp>
      <p:graphicFrame>
        <p:nvGraphicFramePr>
          <p:cNvPr id="2" name="Table 1"/>
          <p:cNvGraphicFramePr>
            <a:graphicFrameLocks noGrp="1"/>
          </p:cNvGraphicFramePr>
          <p:nvPr>
            <p:extLst>
              <p:ext uri="{D42A27DB-BD31-4B8C-83A1-F6EECF244321}">
                <p14:modId xmlns:p14="http://schemas.microsoft.com/office/powerpoint/2010/main" val="803930951"/>
              </p:ext>
            </p:extLst>
          </p:nvPr>
        </p:nvGraphicFramePr>
        <p:xfrm>
          <a:off x="545276" y="2105993"/>
          <a:ext cx="10515600" cy="4228305"/>
        </p:xfrm>
        <a:graphic>
          <a:graphicData uri="http://schemas.openxmlformats.org/drawingml/2006/table">
            <a:tbl>
              <a:tblPr/>
              <a:tblGrid>
                <a:gridCol w="5257800">
                  <a:extLst>
                    <a:ext uri="{9D8B030D-6E8A-4147-A177-3AD203B41FA5}">
                      <a16:colId xmlns:a16="http://schemas.microsoft.com/office/drawing/2014/main" val="3234857780"/>
                    </a:ext>
                  </a:extLst>
                </a:gridCol>
                <a:gridCol w="5257800">
                  <a:extLst>
                    <a:ext uri="{9D8B030D-6E8A-4147-A177-3AD203B41FA5}">
                      <a16:colId xmlns:a16="http://schemas.microsoft.com/office/drawing/2014/main" val="1057621199"/>
                    </a:ext>
                  </a:extLst>
                </a:gridCol>
              </a:tblGrid>
              <a:tr h="0">
                <a:tc>
                  <a:txBody>
                    <a:bodyPr/>
                    <a:lstStyle/>
                    <a:p>
                      <a:r>
                        <a:rPr lang="en-US" b="1"/>
                        <a:t>Category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r>
                        <a:rPr lang="en-US" b="1" dirty="0"/>
                        <a:t>Examples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1930941648"/>
                  </a:ext>
                </a:extLst>
              </a:tr>
              <a:tr h="687083">
                <a:tc>
                  <a:txBody>
                    <a:bodyPr/>
                    <a:lstStyle/>
                    <a:p>
                      <a:r>
                        <a:rPr lang="en-US" b="1"/>
                        <a:t>Languages &amp; Frameworks</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Python, Java, Node.js; Django, Flask, Spring </a:t>
                      </a:r>
                      <a:r>
                        <a:rPr lang="en-US" dirty="0" smtClean="0"/>
                        <a:t>Boot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5700221"/>
                  </a:ext>
                </a:extLst>
              </a:tr>
              <a:tr h="554182">
                <a:tc>
                  <a:txBody>
                    <a:bodyPr/>
                    <a:lstStyle/>
                    <a:p>
                      <a:r>
                        <a:rPr lang="en-US" b="1" dirty="0"/>
                        <a:t>Databases &amp; Data Tools</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PostgreSQL, MySQL, MongoDB, </a:t>
                      </a:r>
                      <a:r>
                        <a:rPr lang="en-US" dirty="0" err="1"/>
                        <a:t>Redis</a:t>
                      </a:r>
                      <a:r>
                        <a:rPr lang="en-US" dirty="0"/>
                        <a:t>, </a:t>
                      </a:r>
                      <a:r>
                        <a:rPr lang="en-US" dirty="0" smtClean="0"/>
                        <a:t>Kafka</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0307513"/>
                  </a:ext>
                </a:extLst>
              </a:tr>
              <a:tr h="734291">
                <a:tc>
                  <a:txBody>
                    <a:bodyPr/>
                    <a:lstStyle/>
                    <a:p>
                      <a:r>
                        <a:rPr lang="en-US" b="1"/>
                        <a:t>API Design</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REST, </a:t>
                      </a:r>
                      <a:r>
                        <a:rPr lang="en-US" dirty="0" err="1"/>
                        <a:t>GraphQL</a:t>
                      </a:r>
                      <a:r>
                        <a:rPr lang="en-US" dirty="0"/>
                        <a:t>, JSON, API documentation tools (Swagger/Postman</a:t>
                      </a:r>
                      <a:r>
                        <a:rPr lang="en-US" dirty="0" smtClean="0"/>
                        <a: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4108946"/>
                  </a:ext>
                </a:extLst>
              </a:tr>
              <a:tr h="606829">
                <a:tc>
                  <a:txBody>
                    <a:bodyPr/>
                    <a:lstStyle/>
                    <a:p>
                      <a:r>
                        <a:rPr lang="en-US" b="1"/>
                        <a:t>DevOps &amp; Deployment</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err="1"/>
                        <a:t>Git</a:t>
                      </a:r>
                      <a:r>
                        <a:rPr lang="en-US" dirty="0"/>
                        <a:t>, Docker/Kubernetes, AWS/Azure, Linux, </a:t>
                      </a:r>
                      <a:r>
                        <a:rPr lang="en-US" dirty="0" smtClean="0"/>
                        <a:t>CI/CD</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7865797"/>
                  </a:ext>
                </a:extLst>
              </a:tr>
              <a:tr h="0">
                <a:tc>
                  <a:txBody>
                    <a:bodyPr/>
                    <a:lstStyle/>
                    <a:p>
                      <a:r>
                        <a:rPr lang="en-US" b="1"/>
                        <a:t>Performance &amp; Security</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Caching strategies, load balancing, encryption, </a:t>
                      </a:r>
                      <a:r>
                        <a:rPr lang="en-US" dirty="0" err="1"/>
                        <a:t>auth</a:t>
                      </a:r>
                      <a:r>
                        <a:rPr lang="en-US" dirty="0"/>
                        <a:t> </a:t>
                      </a:r>
                      <a:r>
                        <a:rPr lang="en-US" dirty="0" smtClean="0"/>
                        <a:t>tokens</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12839319"/>
                  </a:ext>
                </a:extLst>
              </a:tr>
              <a:tr h="0">
                <a:tc>
                  <a:txBody>
                    <a:bodyPr/>
                    <a:lstStyle/>
                    <a:p>
                      <a:r>
                        <a:rPr lang="en-US" b="1"/>
                        <a:t>Soft Skills</a:t>
                      </a:r>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Collaboration, problem solving, communication, attention to detail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2080362"/>
                  </a:ext>
                </a:extLst>
              </a:tr>
            </a:tbl>
          </a:graphicData>
        </a:graphic>
      </p:graphicFrame>
    </p:spTree>
    <p:extLst>
      <p:ext uri="{BB962C8B-B14F-4D97-AF65-F5344CB8AC3E}">
        <p14:creationId xmlns:p14="http://schemas.microsoft.com/office/powerpoint/2010/main" val="26938578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76C89D0-A5BE-6AED-CF50-C8E3854BA0E7}"/>
              </a:ext>
            </a:extLst>
          </p:cNvPr>
          <p:cNvSpPr txBox="1"/>
          <p:nvPr/>
        </p:nvSpPr>
        <p:spPr>
          <a:xfrm>
            <a:off x="351312" y="1030050"/>
            <a:ext cx="10171710" cy="4828630"/>
          </a:xfrm>
          <a:prstGeom prst="rect">
            <a:avLst/>
          </a:prstGeom>
          <a:noFill/>
        </p:spPr>
        <p:txBody>
          <a:bodyPr wrap="square">
            <a:spAutoFit/>
          </a:bodyPr>
          <a:lstStyle/>
          <a:p>
            <a:pPr marL="0" marR="0">
              <a:lnSpc>
                <a:spcPct val="115000"/>
              </a:lnSpc>
              <a:spcAft>
                <a:spcPts val="1000"/>
              </a:spcAft>
            </a:pPr>
            <a:r>
              <a:rPr lang="en-US" sz="2400" b="1" dirty="0" smtClean="0">
                <a:effectLst/>
                <a:ea typeface="MS Mincho" panose="02020609040205080304" pitchFamily="49" charset="-128"/>
                <a:cs typeface="Times New Roman" panose="02020603050405020304" pitchFamily="18" charset="0"/>
              </a:rPr>
              <a:t>4. Sample Deliverables</a:t>
            </a:r>
            <a:r>
              <a:rPr lang="en-US" sz="2400" dirty="0" smtClean="0">
                <a:effectLst/>
                <a:ea typeface="MS Mincho" panose="02020609040205080304" pitchFamily="49" charset="-128"/>
                <a:cs typeface="Times New Roman" panose="02020603050405020304" pitchFamily="18" charset="0"/>
              </a:rPr>
              <a:t/>
            </a:r>
            <a:br>
              <a:rPr lang="en-US" sz="2400" dirty="0" smtClean="0">
                <a:effectLst/>
                <a:ea typeface="MS Mincho" panose="02020609040205080304" pitchFamily="49" charset="-128"/>
                <a:cs typeface="Times New Roman" panose="02020603050405020304" pitchFamily="18" charset="0"/>
              </a:rPr>
            </a:br>
            <a:r>
              <a:rPr lang="en-US" sz="2400" dirty="0" smtClean="0">
                <a:effectLst/>
                <a:ea typeface="MS Mincho" panose="02020609040205080304" pitchFamily="49" charset="-128"/>
                <a:cs typeface="Times New Roman" panose="02020603050405020304" pitchFamily="18" charset="0"/>
              </a:rPr>
              <a:t>- What kind of work or projects would someone in this job create or be responsible for?</a:t>
            </a:r>
            <a:br>
              <a:rPr lang="en-US" sz="2400" dirty="0" smtClean="0">
                <a:effectLst/>
                <a:ea typeface="MS Mincho" panose="02020609040205080304" pitchFamily="49" charset="-128"/>
                <a:cs typeface="Times New Roman" panose="02020603050405020304" pitchFamily="18" charset="0"/>
              </a:rPr>
            </a:br>
            <a:r>
              <a:rPr lang="en-US" sz="2400" dirty="0" smtClean="0">
                <a:effectLst/>
                <a:ea typeface="MS Mincho" panose="02020609040205080304" pitchFamily="49" charset="-128"/>
                <a:cs typeface="Times New Roman" panose="02020603050405020304" pitchFamily="18" charset="0"/>
              </a:rPr>
              <a:t>- Example: incident report, API endpoint, dashboard.</a:t>
            </a:r>
          </a:p>
          <a:p>
            <a:r>
              <a:rPr lang="en-US" sz="2400" dirty="0"/>
              <a:t>When working as a Backend Developer, you'd produce:</a:t>
            </a:r>
          </a:p>
          <a:p>
            <a:pPr marL="342900" indent="-342900">
              <a:buFont typeface="Arial" panose="020B0604020202020204" pitchFamily="34" charset="0"/>
              <a:buChar char="•"/>
            </a:pPr>
            <a:r>
              <a:rPr lang="en-US" sz="2400" dirty="0"/>
              <a:t>Working </a:t>
            </a:r>
            <a:r>
              <a:rPr lang="en-US" sz="2400" b="1" dirty="0"/>
              <a:t>API endpoints</a:t>
            </a:r>
            <a:r>
              <a:rPr lang="en-US" sz="2400" dirty="0"/>
              <a:t> for CRUD, authentication, reporting</a:t>
            </a:r>
          </a:p>
          <a:p>
            <a:pPr marL="342900" indent="-342900">
              <a:buFont typeface="Arial" panose="020B0604020202020204" pitchFamily="34" charset="0"/>
              <a:buChar char="•"/>
            </a:pPr>
            <a:r>
              <a:rPr lang="en-US" sz="2400" b="1" dirty="0"/>
              <a:t>Database schema</a:t>
            </a:r>
            <a:r>
              <a:rPr lang="en-US" sz="2400" dirty="0"/>
              <a:t> designs and optimized queries</a:t>
            </a:r>
          </a:p>
          <a:p>
            <a:pPr marL="342900" indent="-342900">
              <a:buFont typeface="Arial" panose="020B0604020202020204" pitchFamily="34" charset="0"/>
              <a:buChar char="•"/>
            </a:pPr>
            <a:r>
              <a:rPr lang="en-US" sz="2400" b="1" dirty="0"/>
              <a:t>Data pipelines or batch jobs</a:t>
            </a:r>
            <a:r>
              <a:rPr lang="en-US" sz="2400" dirty="0"/>
              <a:t> for ETL or analytics</a:t>
            </a:r>
          </a:p>
          <a:p>
            <a:pPr marL="342900" indent="-342900">
              <a:buFont typeface="Arial" panose="020B0604020202020204" pitchFamily="34" charset="0"/>
              <a:buChar char="•"/>
            </a:pPr>
            <a:r>
              <a:rPr lang="en-US" sz="2400" dirty="0"/>
              <a:t>Backend logic for features like user authentication, scoring, or filtering</a:t>
            </a:r>
          </a:p>
          <a:p>
            <a:pPr marL="342900" indent="-342900">
              <a:buFont typeface="Arial" panose="020B0604020202020204" pitchFamily="34" charset="0"/>
              <a:buChar char="•"/>
            </a:pPr>
            <a:r>
              <a:rPr lang="en-US" sz="2400" b="1" dirty="0"/>
              <a:t>Monitoring alerts</a:t>
            </a:r>
            <a:r>
              <a:rPr lang="en-US" sz="2400" dirty="0"/>
              <a:t>, logging dashboards, and performance reports</a:t>
            </a:r>
          </a:p>
          <a:p>
            <a:pPr marL="342900" indent="-342900">
              <a:buFont typeface="Arial" panose="020B0604020202020204" pitchFamily="34" charset="0"/>
              <a:buChar char="•"/>
            </a:pPr>
            <a:r>
              <a:rPr lang="en-US" sz="2400" b="1" dirty="0"/>
              <a:t>Automated test suites</a:t>
            </a:r>
            <a:r>
              <a:rPr lang="en-US" sz="2400" dirty="0"/>
              <a:t> and deployment setups (e.g. CI pipelines)</a:t>
            </a:r>
          </a:p>
          <a:p>
            <a:pPr marL="0" marR="0">
              <a:lnSpc>
                <a:spcPct val="115000"/>
              </a:lnSpc>
              <a:spcAft>
                <a:spcPts val="1000"/>
              </a:spcAft>
            </a:pPr>
            <a:endParaRPr lang="en-US" sz="2000" dirty="0">
              <a:effectLst/>
              <a:latin typeface="Cambria" panose="02040503050406030204" pitchFamily="18" charset="0"/>
              <a:ea typeface="MS Mincho" panose="02020609040205080304" pitchFamily="49" charset="-128"/>
              <a:cs typeface="Times New Roman" panose="02020603050405020304" pitchFamily="18" charset="0"/>
            </a:endParaRPr>
          </a:p>
        </p:txBody>
      </p:sp>
      <p:sp>
        <p:nvSpPr>
          <p:cNvPr id="9" name="Title 1">
            <a:extLst>
              <a:ext uri="{FF2B5EF4-FFF2-40B4-BE49-F238E27FC236}">
                <a16:creationId xmlns:a16="http://schemas.microsoft.com/office/drawing/2014/main" id="{3903BC70-FACF-ADC5-A43E-C2670B9FC8ED}"/>
              </a:ext>
            </a:extLst>
          </p:cNvPr>
          <p:cNvSpPr>
            <a:spLocks noGrp="1"/>
          </p:cNvSpPr>
          <p:nvPr>
            <p:ph type="title"/>
          </p:nvPr>
        </p:nvSpPr>
        <p:spPr>
          <a:xfrm>
            <a:off x="351312" y="249382"/>
            <a:ext cx="10515600" cy="695134"/>
          </a:xfrm>
        </p:spPr>
        <p:txBody>
          <a:bodyPr/>
          <a:lstStyle/>
          <a:p>
            <a:r>
              <a:rPr lang="en-US" dirty="0" smtClean="0"/>
              <a:t>Lisa’s Job </a:t>
            </a:r>
            <a:r>
              <a:rPr lang="en-US" dirty="0"/>
              <a:t>Description</a:t>
            </a:r>
          </a:p>
        </p:txBody>
      </p:sp>
    </p:spTree>
    <p:extLst>
      <p:ext uri="{BB962C8B-B14F-4D97-AF65-F5344CB8AC3E}">
        <p14:creationId xmlns:p14="http://schemas.microsoft.com/office/powerpoint/2010/main" val="1082834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AAB3638-9BF2-B2E6-DBEE-EAC883FE5BB7}"/>
              </a:ext>
            </a:extLst>
          </p:cNvPr>
          <p:cNvSpPr txBox="1">
            <a:spLocks/>
          </p:cNvSpPr>
          <p:nvPr/>
        </p:nvSpPr>
        <p:spPr>
          <a:xfrm>
            <a:off x="351312" y="15334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7E5696"/>
                </a:solidFill>
                <a:latin typeface="Helvetica" pitchFamily="2" charset="0"/>
                <a:ea typeface="+mj-ea"/>
                <a:cs typeface="+mj-cs"/>
              </a:defRPr>
            </a:lvl1pPr>
          </a:lstStyle>
          <a:p>
            <a:r>
              <a:rPr lang="en-US" dirty="0"/>
              <a:t>Workplace </a:t>
            </a:r>
          </a:p>
        </p:txBody>
      </p:sp>
      <p:sp>
        <p:nvSpPr>
          <p:cNvPr id="5" name="TextBox 4">
            <a:extLst>
              <a:ext uri="{FF2B5EF4-FFF2-40B4-BE49-F238E27FC236}">
                <a16:creationId xmlns:a16="http://schemas.microsoft.com/office/drawing/2014/main" id="{775BC694-CFFD-26DE-75F2-2E812710E327}"/>
              </a:ext>
            </a:extLst>
          </p:cNvPr>
          <p:cNvSpPr txBox="1"/>
          <p:nvPr/>
        </p:nvSpPr>
        <p:spPr>
          <a:xfrm>
            <a:off x="351312" y="1271087"/>
            <a:ext cx="10106891" cy="4593758"/>
          </a:xfrm>
          <a:prstGeom prst="rect">
            <a:avLst/>
          </a:prstGeom>
          <a:noFill/>
        </p:spPr>
        <p:txBody>
          <a:bodyPr wrap="square">
            <a:spAutoFit/>
          </a:bodyPr>
          <a:lstStyle/>
          <a:p>
            <a:pPr marL="0" marR="0">
              <a:lnSpc>
                <a:spcPct val="115000"/>
              </a:lnSpc>
              <a:spcAft>
                <a:spcPts val="1000"/>
              </a:spcAft>
              <a:buNone/>
            </a:pPr>
            <a:r>
              <a:rPr lang="en-US" sz="2200" b="1" dirty="0">
                <a:effectLst/>
                <a:latin typeface="Cambria" panose="02040503050406030204" pitchFamily="18" charset="0"/>
                <a:ea typeface="MS Mincho" panose="02020609040205080304" pitchFamily="49" charset="-128"/>
                <a:cs typeface="Times New Roman" panose="02020603050405020304" pitchFamily="18" charset="0"/>
              </a:rPr>
              <a:t>5. Ideal Work Environment</a:t>
            </a:r>
            <a:r>
              <a:rPr lang="en-US" sz="2200" dirty="0">
                <a:effectLst/>
                <a:latin typeface="Cambria" panose="02040503050406030204" pitchFamily="18" charset="0"/>
                <a:ea typeface="MS Mincho" panose="02020609040205080304" pitchFamily="49" charset="-128"/>
                <a:cs typeface="Times New Roman" panose="02020603050405020304" pitchFamily="18" charset="0"/>
              </a:rPr>
              <a:t/>
            </a:r>
            <a:br>
              <a:rPr lang="en-US" sz="2200" dirty="0">
                <a:effectLst/>
                <a:latin typeface="Cambria" panose="02040503050406030204" pitchFamily="18" charset="0"/>
                <a:ea typeface="MS Mincho" panose="02020609040205080304" pitchFamily="49" charset="-128"/>
                <a:cs typeface="Times New Roman" panose="02020603050405020304" pitchFamily="18" charset="0"/>
              </a:rPr>
            </a:br>
            <a:r>
              <a:rPr lang="en-US" sz="2200" dirty="0">
                <a:effectLst/>
                <a:latin typeface="Cambria" panose="02040503050406030204" pitchFamily="18" charset="0"/>
                <a:ea typeface="MS Mincho" panose="02020609040205080304" pitchFamily="49" charset="-128"/>
                <a:cs typeface="Times New Roman" panose="02020603050405020304" pitchFamily="18" charset="0"/>
              </a:rPr>
              <a:t>- What kind of company is this job at? (startup, nonprofit, large tech?)</a:t>
            </a:r>
            <a:br>
              <a:rPr lang="en-US" sz="2200" dirty="0">
                <a:effectLst/>
                <a:latin typeface="Cambria" panose="02040503050406030204" pitchFamily="18" charset="0"/>
                <a:ea typeface="MS Mincho" panose="02020609040205080304" pitchFamily="49" charset="-128"/>
                <a:cs typeface="Times New Roman" panose="02020603050405020304" pitchFamily="18" charset="0"/>
              </a:rPr>
            </a:br>
            <a:r>
              <a:rPr lang="en-US" sz="2200" dirty="0">
                <a:effectLst/>
                <a:latin typeface="Cambria" panose="02040503050406030204" pitchFamily="18" charset="0"/>
                <a:ea typeface="MS Mincho" panose="02020609040205080304" pitchFamily="49" charset="-128"/>
                <a:cs typeface="Times New Roman" panose="02020603050405020304" pitchFamily="18" charset="0"/>
              </a:rPr>
              <a:t>- What is the work style? (independent, team-based, structured</a:t>
            </a:r>
            <a:r>
              <a:rPr lang="en-US" sz="2200" dirty="0" smtClean="0">
                <a:effectLst/>
                <a:latin typeface="Cambria" panose="02040503050406030204" pitchFamily="18" charset="0"/>
                <a:ea typeface="MS Mincho" panose="02020609040205080304" pitchFamily="49" charset="-128"/>
                <a:cs typeface="Times New Roman" panose="02020603050405020304" pitchFamily="18" charset="0"/>
              </a:rPr>
              <a:t>?)</a:t>
            </a:r>
            <a:endParaRPr lang="en-US" sz="2200" dirty="0">
              <a:latin typeface="Cambria" panose="02040503050406030204" pitchFamily="18" charset="0"/>
              <a:ea typeface="MS Mincho" panose="02020609040205080304" pitchFamily="49" charset="-128"/>
              <a:cs typeface="Times New Roman" panose="02020603050405020304" pitchFamily="18" charset="0"/>
            </a:endParaRPr>
          </a:p>
          <a:p>
            <a:pPr>
              <a:lnSpc>
                <a:spcPct val="115000"/>
              </a:lnSpc>
              <a:spcAft>
                <a:spcPts val="1000"/>
              </a:spcAft>
            </a:pPr>
            <a:r>
              <a:rPr lang="en-US" sz="2200" b="1" dirty="0">
                <a:latin typeface="Cambria" panose="02040503050406030204" pitchFamily="18" charset="0"/>
                <a:ea typeface="MS Mincho" panose="02020609040205080304" pitchFamily="49" charset="-128"/>
                <a:cs typeface="Times New Roman" panose="02020603050405020304" pitchFamily="18" charset="0"/>
              </a:rPr>
              <a:t>Company types: </a:t>
            </a:r>
            <a:endParaRPr lang="en-US" sz="2200" b="1" dirty="0" smtClean="0">
              <a:latin typeface="Cambria" panose="02040503050406030204" pitchFamily="18" charset="0"/>
              <a:ea typeface="MS Mincho" panose="02020609040205080304" pitchFamily="49" charset="-128"/>
              <a:cs typeface="Times New Roman" panose="02020603050405020304" pitchFamily="18" charset="0"/>
            </a:endParaRPr>
          </a:p>
          <a:p>
            <a:pPr marL="342900" indent="-342900">
              <a:lnSpc>
                <a:spcPct val="115000"/>
              </a:lnSpc>
              <a:spcAft>
                <a:spcPts val="1000"/>
              </a:spcAft>
              <a:buFont typeface="Arial" panose="020B0604020202020204" pitchFamily="34" charset="0"/>
              <a:buChar char="•"/>
            </a:pPr>
            <a:r>
              <a:rPr lang="en-US" sz="2200" dirty="0" smtClean="0">
                <a:latin typeface="Cambria" panose="02040503050406030204" pitchFamily="18" charset="0"/>
                <a:ea typeface="MS Mincho" panose="02020609040205080304" pitchFamily="49" charset="-128"/>
                <a:cs typeface="Times New Roman" panose="02020603050405020304" pitchFamily="18" charset="0"/>
              </a:rPr>
              <a:t>Tech </a:t>
            </a:r>
            <a:r>
              <a:rPr lang="en-US" sz="2200" dirty="0">
                <a:latin typeface="Cambria" panose="02040503050406030204" pitchFamily="18" charset="0"/>
                <a:ea typeface="MS Mincho" panose="02020609040205080304" pitchFamily="49" charset="-128"/>
                <a:cs typeface="Times New Roman" panose="02020603050405020304" pitchFamily="18" charset="0"/>
              </a:rPr>
              <a:t>startups, product-oriented small companies, SaaS firms, AI/data platforms, and modern engineering teams</a:t>
            </a:r>
            <a:r>
              <a:rPr lang="en-US" sz="2200" dirty="0" smtClean="0">
                <a:latin typeface="Cambria" panose="02040503050406030204" pitchFamily="18" charset="0"/>
                <a:ea typeface="MS Mincho" panose="02020609040205080304" pitchFamily="49" charset="-128"/>
                <a:cs typeface="Times New Roman" panose="02020603050405020304" pitchFamily="18" charset="0"/>
              </a:rPr>
              <a:t>.</a:t>
            </a:r>
          </a:p>
          <a:p>
            <a:pPr>
              <a:lnSpc>
                <a:spcPct val="115000"/>
              </a:lnSpc>
              <a:spcAft>
                <a:spcPts val="1000"/>
              </a:spcAft>
            </a:pPr>
            <a:r>
              <a:rPr lang="en-US" sz="2200" b="1" dirty="0" smtClean="0">
                <a:latin typeface="Cambria" panose="02040503050406030204" pitchFamily="18" charset="0"/>
                <a:ea typeface="MS Mincho" panose="02020609040205080304" pitchFamily="49" charset="-128"/>
                <a:cs typeface="Times New Roman" panose="02020603050405020304" pitchFamily="18" charset="0"/>
              </a:rPr>
              <a:t>Team </a:t>
            </a:r>
            <a:r>
              <a:rPr lang="en-US" sz="2200" b="1" dirty="0">
                <a:latin typeface="Cambria" panose="02040503050406030204" pitchFamily="18" charset="0"/>
                <a:ea typeface="MS Mincho" panose="02020609040205080304" pitchFamily="49" charset="-128"/>
                <a:cs typeface="Times New Roman" panose="02020603050405020304" pitchFamily="18" charset="0"/>
              </a:rPr>
              <a:t>style: </a:t>
            </a:r>
            <a:endParaRPr lang="en-US" sz="2200" b="1" dirty="0" smtClean="0">
              <a:latin typeface="Cambria" panose="02040503050406030204" pitchFamily="18" charset="0"/>
              <a:ea typeface="MS Mincho" panose="02020609040205080304" pitchFamily="49" charset="-128"/>
              <a:cs typeface="Times New Roman" panose="02020603050405020304" pitchFamily="18" charset="0"/>
            </a:endParaRPr>
          </a:p>
          <a:p>
            <a:pPr marL="342900" indent="-342900">
              <a:lnSpc>
                <a:spcPct val="115000"/>
              </a:lnSpc>
              <a:spcAft>
                <a:spcPts val="1000"/>
              </a:spcAft>
              <a:buFont typeface="Arial" panose="020B0604020202020204" pitchFamily="34" charset="0"/>
              <a:buChar char="•"/>
            </a:pPr>
            <a:r>
              <a:rPr lang="en-US" sz="2200" dirty="0" smtClean="0">
                <a:latin typeface="Cambria" panose="02040503050406030204" pitchFamily="18" charset="0"/>
                <a:ea typeface="MS Mincho" panose="02020609040205080304" pitchFamily="49" charset="-128"/>
                <a:cs typeface="Times New Roman" panose="02020603050405020304" pitchFamily="18" charset="0"/>
              </a:rPr>
              <a:t>Team-based </a:t>
            </a:r>
            <a:r>
              <a:rPr lang="en-US" sz="2200" dirty="0">
                <a:latin typeface="Cambria" panose="02040503050406030204" pitchFamily="18" charset="0"/>
                <a:ea typeface="MS Mincho" panose="02020609040205080304" pitchFamily="49" charset="-128"/>
                <a:cs typeface="Times New Roman" panose="02020603050405020304" pitchFamily="18" charset="0"/>
              </a:rPr>
              <a:t>with close collaboration—daily standups, code reviews, pairing. </a:t>
            </a:r>
            <a:endParaRPr lang="en-US" sz="2200" dirty="0" smtClean="0">
              <a:latin typeface="Cambria" panose="02040503050406030204" pitchFamily="18" charset="0"/>
              <a:ea typeface="MS Mincho" panose="02020609040205080304" pitchFamily="49" charset="-128"/>
              <a:cs typeface="Times New Roman" panose="02020603050405020304" pitchFamily="18" charset="0"/>
            </a:endParaRPr>
          </a:p>
          <a:p>
            <a:pPr marL="342900" indent="-342900">
              <a:lnSpc>
                <a:spcPct val="115000"/>
              </a:lnSpc>
              <a:spcAft>
                <a:spcPts val="1000"/>
              </a:spcAft>
              <a:buFont typeface="Arial" panose="020B0604020202020204" pitchFamily="34" charset="0"/>
              <a:buChar char="•"/>
            </a:pPr>
            <a:r>
              <a:rPr lang="en-US" sz="2200" dirty="0" smtClean="0">
                <a:latin typeface="Cambria" panose="02040503050406030204" pitchFamily="18" charset="0"/>
                <a:ea typeface="MS Mincho" panose="02020609040205080304" pitchFamily="49" charset="-128"/>
                <a:cs typeface="Times New Roman" panose="02020603050405020304" pitchFamily="18" charset="0"/>
              </a:rPr>
              <a:t>Some </a:t>
            </a:r>
            <a:r>
              <a:rPr lang="en-US" sz="2200" dirty="0">
                <a:latin typeface="Cambria" panose="02040503050406030204" pitchFamily="18" charset="0"/>
                <a:ea typeface="MS Mincho" panose="02020609040205080304" pitchFamily="49" charset="-128"/>
                <a:cs typeface="Times New Roman" panose="02020603050405020304" pitchFamily="18" charset="0"/>
              </a:rPr>
              <a:t>solo work on specific features permitted. Remote-friendly, flexible schedules. </a:t>
            </a:r>
            <a:endParaRPr lang="en-US" sz="2200" dirty="0">
              <a:effectLst/>
              <a:latin typeface="Cambria" panose="02040503050406030204" pitchFamily="18" charset="0"/>
              <a:ea typeface="MS Mincho" panose="02020609040205080304" pitchFamily="49" charset="-128"/>
              <a:cs typeface="Times New Roman" panose="02020603050405020304" pitchFamily="18" charset="0"/>
            </a:endParaRPr>
          </a:p>
        </p:txBody>
      </p:sp>
    </p:spTree>
    <p:extLst>
      <p:ext uri="{BB962C8B-B14F-4D97-AF65-F5344CB8AC3E}">
        <p14:creationId xmlns:p14="http://schemas.microsoft.com/office/powerpoint/2010/main" val="23723780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AAB3638-9BF2-B2E6-DBEE-EAC883FE5BB7}"/>
              </a:ext>
            </a:extLst>
          </p:cNvPr>
          <p:cNvSpPr txBox="1">
            <a:spLocks/>
          </p:cNvSpPr>
          <p:nvPr/>
        </p:nvSpPr>
        <p:spPr>
          <a:xfrm>
            <a:off x="351312" y="15334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b="1" kern="1200">
                <a:solidFill>
                  <a:srgbClr val="7E5696"/>
                </a:solidFill>
                <a:latin typeface="Helvetica" pitchFamily="2" charset="0"/>
                <a:ea typeface="+mj-ea"/>
                <a:cs typeface="+mj-cs"/>
              </a:defRPr>
            </a:lvl1pPr>
          </a:lstStyle>
          <a:p>
            <a:r>
              <a:rPr lang="en-US" dirty="0"/>
              <a:t>Workplace </a:t>
            </a:r>
          </a:p>
        </p:txBody>
      </p:sp>
      <p:sp>
        <p:nvSpPr>
          <p:cNvPr id="5" name="TextBox 4">
            <a:extLst>
              <a:ext uri="{FF2B5EF4-FFF2-40B4-BE49-F238E27FC236}">
                <a16:creationId xmlns:a16="http://schemas.microsoft.com/office/drawing/2014/main" id="{775BC694-CFFD-26DE-75F2-2E812710E327}"/>
              </a:ext>
            </a:extLst>
          </p:cNvPr>
          <p:cNvSpPr txBox="1"/>
          <p:nvPr/>
        </p:nvSpPr>
        <p:spPr>
          <a:xfrm>
            <a:off x="351312" y="1180103"/>
            <a:ext cx="9977252" cy="4854855"/>
          </a:xfrm>
          <a:prstGeom prst="rect">
            <a:avLst/>
          </a:prstGeom>
          <a:noFill/>
        </p:spPr>
        <p:txBody>
          <a:bodyPr wrap="square">
            <a:spAutoFit/>
          </a:bodyPr>
          <a:lstStyle/>
          <a:p>
            <a:pPr marL="0" marR="0">
              <a:lnSpc>
                <a:spcPct val="115000"/>
              </a:lnSpc>
              <a:spcAft>
                <a:spcPts val="1000"/>
              </a:spcAft>
            </a:pPr>
            <a:r>
              <a:rPr lang="en-US" sz="2200" b="1" dirty="0" smtClean="0">
                <a:effectLst/>
                <a:latin typeface="Cambria" panose="02040503050406030204" pitchFamily="18" charset="0"/>
                <a:ea typeface="MS Mincho" panose="02020609040205080304" pitchFamily="49" charset="-128"/>
                <a:cs typeface="Times New Roman" panose="02020603050405020304" pitchFamily="18" charset="0"/>
              </a:rPr>
              <a:t>6</a:t>
            </a:r>
            <a:r>
              <a:rPr lang="en-US" sz="2200" b="1" dirty="0">
                <a:effectLst/>
                <a:latin typeface="Cambria" panose="02040503050406030204" pitchFamily="18" charset="0"/>
                <a:ea typeface="MS Mincho" panose="02020609040205080304" pitchFamily="49" charset="-128"/>
                <a:cs typeface="Times New Roman" panose="02020603050405020304" pitchFamily="18" charset="0"/>
              </a:rPr>
              <a:t>. Growth Style and Rigor</a:t>
            </a:r>
            <a:r>
              <a:rPr lang="en-US" sz="2200" dirty="0">
                <a:effectLst/>
                <a:latin typeface="Cambria" panose="02040503050406030204" pitchFamily="18" charset="0"/>
                <a:ea typeface="MS Mincho" panose="02020609040205080304" pitchFamily="49" charset="-128"/>
                <a:cs typeface="Times New Roman" panose="02020603050405020304" pitchFamily="18" charset="0"/>
              </a:rPr>
              <a:t/>
            </a:r>
            <a:br>
              <a:rPr lang="en-US" sz="2200" dirty="0">
                <a:effectLst/>
                <a:latin typeface="Cambria" panose="02040503050406030204" pitchFamily="18" charset="0"/>
                <a:ea typeface="MS Mincho" panose="02020609040205080304" pitchFamily="49" charset="-128"/>
                <a:cs typeface="Times New Roman" panose="02020603050405020304" pitchFamily="18" charset="0"/>
              </a:rPr>
            </a:br>
            <a:r>
              <a:rPr lang="en-US" sz="2200" dirty="0">
                <a:effectLst/>
                <a:latin typeface="Cambria" panose="02040503050406030204" pitchFamily="18" charset="0"/>
                <a:ea typeface="MS Mincho" panose="02020609040205080304" pitchFamily="49" charset="-128"/>
                <a:cs typeface="Times New Roman" panose="02020603050405020304" pitchFamily="18" charset="0"/>
              </a:rPr>
              <a:t>- How fast-paced or intense is the work?</a:t>
            </a:r>
            <a:br>
              <a:rPr lang="en-US" sz="2200" dirty="0">
                <a:effectLst/>
                <a:latin typeface="Cambria" panose="02040503050406030204" pitchFamily="18" charset="0"/>
                <a:ea typeface="MS Mincho" panose="02020609040205080304" pitchFamily="49" charset="-128"/>
                <a:cs typeface="Times New Roman" panose="02020603050405020304" pitchFamily="18" charset="0"/>
              </a:rPr>
            </a:br>
            <a:r>
              <a:rPr lang="en-US" sz="2200" dirty="0">
                <a:effectLst/>
                <a:latin typeface="Cambria" panose="02040503050406030204" pitchFamily="18" charset="0"/>
                <a:ea typeface="MS Mincho" panose="02020609040205080304" pitchFamily="49" charset="-128"/>
                <a:cs typeface="Times New Roman" panose="02020603050405020304" pitchFamily="18" charset="0"/>
              </a:rPr>
              <a:t>- Is there mentorship, structure, freedom, or pressure</a:t>
            </a:r>
            <a:r>
              <a:rPr lang="en-US" sz="2200" dirty="0" smtClean="0">
                <a:effectLst/>
                <a:latin typeface="Cambria" panose="02040503050406030204" pitchFamily="18" charset="0"/>
                <a:ea typeface="MS Mincho" panose="02020609040205080304" pitchFamily="49" charset="-128"/>
                <a:cs typeface="Times New Roman" panose="02020603050405020304" pitchFamily="18" charset="0"/>
              </a:rPr>
              <a:t>?</a:t>
            </a:r>
          </a:p>
          <a:p>
            <a:pPr marL="342900" indent="-342900">
              <a:lnSpc>
                <a:spcPct val="115000"/>
              </a:lnSpc>
              <a:spcAft>
                <a:spcPts val="1000"/>
              </a:spcAft>
              <a:buFont typeface="Arial" panose="020B0604020202020204" pitchFamily="34" charset="0"/>
              <a:buChar char="•"/>
            </a:pPr>
            <a:r>
              <a:rPr lang="en-US" sz="2200" b="1" dirty="0">
                <a:latin typeface="Cambria" panose="02040503050406030204" pitchFamily="18" charset="0"/>
                <a:ea typeface="MS Mincho" panose="02020609040205080304" pitchFamily="49" charset="-128"/>
                <a:cs typeface="Times New Roman" panose="02020603050405020304" pitchFamily="18" charset="0"/>
              </a:rPr>
              <a:t>Pace: </a:t>
            </a:r>
            <a:r>
              <a:rPr lang="en-US" sz="2200" dirty="0">
                <a:latin typeface="Cambria" panose="02040503050406030204" pitchFamily="18" charset="0"/>
                <a:ea typeface="MS Mincho" panose="02020609040205080304" pitchFamily="49" charset="-128"/>
                <a:cs typeface="Times New Roman" panose="02020603050405020304" pitchFamily="18" charset="0"/>
              </a:rPr>
              <a:t>Moderate-to-fast, driven by feature delivery cycles and release deadlines</a:t>
            </a:r>
            <a:r>
              <a:rPr lang="en-US" sz="2200" dirty="0" smtClean="0">
                <a:latin typeface="Cambria" panose="02040503050406030204" pitchFamily="18" charset="0"/>
                <a:ea typeface="MS Mincho" panose="02020609040205080304" pitchFamily="49" charset="-128"/>
                <a:cs typeface="Times New Roman" panose="02020603050405020304" pitchFamily="18" charset="0"/>
              </a:rPr>
              <a:t>.</a:t>
            </a:r>
          </a:p>
          <a:p>
            <a:pPr marL="342900" indent="-342900">
              <a:lnSpc>
                <a:spcPct val="115000"/>
              </a:lnSpc>
              <a:spcAft>
                <a:spcPts val="1000"/>
              </a:spcAft>
              <a:buFont typeface="Arial" panose="020B0604020202020204" pitchFamily="34" charset="0"/>
              <a:buChar char="•"/>
            </a:pPr>
            <a:r>
              <a:rPr lang="en-US" sz="2200" b="1" dirty="0" smtClean="0">
                <a:latin typeface="Cambria" panose="02040503050406030204" pitchFamily="18" charset="0"/>
                <a:ea typeface="MS Mincho" panose="02020609040205080304" pitchFamily="49" charset="-128"/>
                <a:cs typeface="Times New Roman" panose="02020603050405020304" pitchFamily="18" charset="0"/>
              </a:rPr>
              <a:t>Structure</a:t>
            </a:r>
            <a:r>
              <a:rPr lang="en-US" sz="2200" b="1" dirty="0">
                <a:latin typeface="Cambria" panose="02040503050406030204" pitchFamily="18" charset="0"/>
                <a:ea typeface="MS Mincho" panose="02020609040205080304" pitchFamily="49" charset="-128"/>
                <a:cs typeface="Times New Roman" panose="02020603050405020304" pitchFamily="18" charset="0"/>
              </a:rPr>
              <a:t>: </a:t>
            </a:r>
            <a:r>
              <a:rPr lang="en-US" sz="2200" dirty="0">
                <a:latin typeface="Cambria" panose="02040503050406030204" pitchFamily="18" charset="0"/>
                <a:ea typeface="MS Mincho" panose="02020609040205080304" pitchFamily="49" charset="-128"/>
                <a:cs typeface="Times New Roman" panose="02020603050405020304" pitchFamily="18" charset="0"/>
              </a:rPr>
              <a:t>Typically structured agile teams with mentorship and reviewer feedback for entry-level engineers</a:t>
            </a:r>
            <a:r>
              <a:rPr lang="en-US" sz="2200" dirty="0" smtClean="0">
                <a:latin typeface="Cambria" panose="02040503050406030204" pitchFamily="18" charset="0"/>
                <a:ea typeface="MS Mincho" panose="02020609040205080304" pitchFamily="49" charset="-128"/>
                <a:cs typeface="Times New Roman" panose="02020603050405020304" pitchFamily="18" charset="0"/>
              </a:rPr>
              <a:t>.</a:t>
            </a:r>
          </a:p>
          <a:p>
            <a:pPr marL="342900" indent="-342900">
              <a:lnSpc>
                <a:spcPct val="115000"/>
              </a:lnSpc>
              <a:spcAft>
                <a:spcPts val="1000"/>
              </a:spcAft>
              <a:buFont typeface="Arial" panose="020B0604020202020204" pitchFamily="34" charset="0"/>
              <a:buChar char="•"/>
            </a:pPr>
            <a:r>
              <a:rPr lang="en-US" sz="2200" b="1" dirty="0" smtClean="0">
                <a:latin typeface="Cambria" panose="02040503050406030204" pitchFamily="18" charset="0"/>
                <a:ea typeface="MS Mincho" panose="02020609040205080304" pitchFamily="49" charset="-128"/>
                <a:cs typeface="Times New Roman" panose="02020603050405020304" pitchFamily="18" charset="0"/>
              </a:rPr>
              <a:t>Freedom</a:t>
            </a:r>
            <a:r>
              <a:rPr lang="en-US" sz="2200" b="1" dirty="0">
                <a:latin typeface="Cambria" panose="02040503050406030204" pitchFamily="18" charset="0"/>
                <a:ea typeface="MS Mincho" panose="02020609040205080304" pitchFamily="49" charset="-128"/>
                <a:cs typeface="Times New Roman" panose="02020603050405020304" pitchFamily="18" charset="0"/>
              </a:rPr>
              <a:t>: </a:t>
            </a:r>
            <a:r>
              <a:rPr lang="en-US" sz="2200" dirty="0">
                <a:latin typeface="Cambria" panose="02040503050406030204" pitchFamily="18" charset="0"/>
                <a:ea typeface="MS Mincho" panose="02020609040205080304" pitchFamily="49" charset="-128"/>
                <a:cs typeface="Times New Roman" panose="02020603050405020304" pitchFamily="18" charset="0"/>
              </a:rPr>
              <a:t>Entry-level backend </a:t>
            </a:r>
            <a:r>
              <a:rPr lang="en-US" sz="2200" dirty="0" err="1">
                <a:latin typeface="Cambria" panose="02040503050406030204" pitchFamily="18" charset="0"/>
                <a:ea typeface="MS Mincho" panose="02020609040205080304" pitchFamily="49" charset="-128"/>
                <a:cs typeface="Times New Roman" panose="02020603050405020304" pitchFamily="18" charset="0"/>
              </a:rPr>
              <a:t>devs</a:t>
            </a:r>
            <a:r>
              <a:rPr lang="en-US" sz="2200" dirty="0">
                <a:latin typeface="Cambria" panose="02040503050406030204" pitchFamily="18" charset="0"/>
                <a:ea typeface="MS Mincho" panose="02020609040205080304" pitchFamily="49" charset="-128"/>
                <a:cs typeface="Times New Roman" panose="02020603050405020304" pitchFamily="18" charset="0"/>
              </a:rPr>
              <a:t> receive guidance but also ownership of small features and modules</a:t>
            </a:r>
            <a:r>
              <a:rPr lang="en-US" sz="2200" dirty="0" smtClean="0">
                <a:latin typeface="Cambria" panose="02040503050406030204" pitchFamily="18" charset="0"/>
                <a:ea typeface="MS Mincho" panose="02020609040205080304" pitchFamily="49" charset="-128"/>
                <a:cs typeface="Times New Roman" panose="02020603050405020304" pitchFamily="18" charset="0"/>
              </a:rPr>
              <a:t>.</a:t>
            </a:r>
          </a:p>
          <a:p>
            <a:pPr marL="342900" indent="-342900">
              <a:lnSpc>
                <a:spcPct val="115000"/>
              </a:lnSpc>
              <a:spcAft>
                <a:spcPts val="1000"/>
              </a:spcAft>
              <a:buFont typeface="Arial" panose="020B0604020202020204" pitchFamily="34" charset="0"/>
              <a:buChar char="•"/>
            </a:pPr>
            <a:r>
              <a:rPr lang="en-US" sz="2200" b="1" dirty="0" smtClean="0">
                <a:latin typeface="Cambria" panose="02040503050406030204" pitchFamily="18" charset="0"/>
                <a:ea typeface="MS Mincho" panose="02020609040205080304" pitchFamily="49" charset="-128"/>
                <a:cs typeface="Times New Roman" panose="02020603050405020304" pitchFamily="18" charset="0"/>
              </a:rPr>
              <a:t>Pressure</a:t>
            </a:r>
            <a:r>
              <a:rPr lang="en-US" sz="2200" b="1" dirty="0">
                <a:latin typeface="Cambria" panose="02040503050406030204" pitchFamily="18" charset="0"/>
                <a:ea typeface="MS Mincho" panose="02020609040205080304" pitchFamily="49" charset="-128"/>
                <a:cs typeface="Times New Roman" panose="02020603050405020304" pitchFamily="18" charset="0"/>
              </a:rPr>
              <a:t>: </a:t>
            </a:r>
            <a:r>
              <a:rPr lang="en-US" sz="2200" dirty="0">
                <a:latin typeface="Cambria" panose="02040503050406030204" pitchFamily="18" charset="0"/>
                <a:ea typeface="MS Mincho" panose="02020609040205080304" pitchFamily="49" charset="-128"/>
                <a:cs typeface="Times New Roman" panose="02020603050405020304" pitchFamily="18" charset="0"/>
              </a:rPr>
              <a:t>Some on-call or occasional emergency fixes may be required—expected but manageable if the system design is solid. You’d deal with production issues infrequently and systematically.</a:t>
            </a:r>
            <a:endParaRPr lang="en-US" sz="2200" dirty="0">
              <a:effectLst/>
              <a:latin typeface="Cambria" panose="02040503050406030204" pitchFamily="18" charset="0"/>
              <a:ea typeface="MS Mincho" panose="02020609040205080304" pitchFamily="49" charset="-128"/>
              <a:cs typeface="Times New Roman" panose="02020603050405020304" pitchFamily="18" charset="0"/>
            </a:endParaRPr>
          </a:p>
        </p:txBody>
      </p:sp>
    </p:spTree>
    <p:extLst>
      <p:ext uri="{BB962C8B-B14F-4D97-AF65-F5344CB8AC3E}">
        <p14:creationId xmlns:p14="http://schemas.microsoft.com/office/powerpoint/2010/main" val="11874073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5" id="{67EF08A1-8A2D-8147-85A3-7463675FCE1B}" vid="{3E80FA0F-F38D-8049-B8ED-24012407F13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3C38FE0D61D5046BB8E8D30AC84F4CC" ma:contentTypeVersion="13" ma:contentTypeDescription="Create a new document." ma:contentTypeScope="" ma:versionID="f594c1f6c452f8c7ddd3e061233fab00">
  <xsd:schema xmlns:xsd="http://www.w3.org/2001/XMLSchema" xmlns:xs="http://www.w3.org/2001/XMLSchema" xmlns:p="http://schemas.microsoft.com/office/2006/metadata/properties" xmlns:ns2="330561f8-3a58-4d5a-99f5-e5bf032bbe8e" xmlns:ns3="5e9b80ff-26ff-4136-90e7-92d5df226937" targetNamespace="http://schemas.microsoft.com/office/2006/metadata/properties" ma:root="true" ma:fieldsID="181fbdcbbeed63ea09858cc38d456c6f" ns2:_="" ns3:_="">
    <xsd:import namespace="330561f8-3a58-4d5a-99f5-e5bf032bbe8e"/>
    <xsd:import namespace="5e9b80ff-26ff-4136-90e7-92d5df226937"/>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ObjectDetectorVersions"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0561f8-3a58-4d5a-99f5-e5bf032bbe8e"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ba6dbf3b-0b42-49fe-8ca0-47f009b506d6"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dexed="true" ma:internalName="MediaServiceDateTaken"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SearchProperties" ma:index="19" nillable="true" ma:displayName="MediaServiceSearchProperties" ma:hidden="true" ma:internalName="MediaServiceSearchProperties" ma:readOnly="true">
      <xsd:simpleType>
        <xsd:restriction base="dms:Note"/>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e9b80ff-26ff-4136-90e7-92d5df226937"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76af52df-4389-4476-830d-7e379b9486d2}" ma:internalName="TaxCatchAll" ma:showField="CatchAllData" ma:web="5e9b80ff-26ff-4136-90e7-92d5df22693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330561f8-3a58-4d5a-99f5-e5bf032bbe8e">
      <Terms xmlns="http://schemas.microsoft.com/office/infopath/2007/PartnerControls"/>
    </lcf76f155ced4ddcb4097134ff3c332f>
    <TaxCatchAll xmlns="5e9b80ff-26ff-4136-90e7-92d5df226937"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1789153-6AF8-4C0D-A854-28161CDE65E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0561f8-3a58-4d5a-99f5-e5bf032bbe8e"/>
    <ds:schemaRef ds:uri="5e9b80ff-26ff-4136-90e7-92d5df22693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D5080A1-27FD-4064-9E01-01F8D02423D4}">
  <ds:schemaRefs>
    <ds:schemaRef ds:uri="http://purl.org/dc/elements/1.1/"/>
    <ds:schemaRef ds:uri="http://purl.org/dc/dcmitype/"/>
    <ds:schemaRef ds:uri="http://schemas.openxmlformats.org/package/2006/metadata/core-properties"/>
    <ds:schemaRef ds:uri="http://schemas.microsoft.com/office/2006/documentManagement/types"/>
    <ds:schemaRef ds:uri="330561f8-3a58-4d5a-99f5-e5bf032bbe8e"/>
    <ds:schemaRef ds:uri="http://purl.org/dc/terms/"/>
    <ds:schemaRef ds:uri="http://www.w3.org/XML/1998/namespace"/>
    <ds:schemaRef ds:uri="http://schemas.microsoft.com/office/infopath/2007/PartnerControls"/>
    <ds:schemaRef ds:uri="5e9b80ff-26ff-4136-90e7-92d5df226937"/>
    <ds:schemaRef ds:uri="http://schemas.microsoft.com/office/2006/metadata/properties"/>
  </ds:schemaRefs>
</ds:datastoreItem>
</file>

<file path=customXml/itemProps3.xml><?xml version="1.0" encoding="utf-8"?>
<ds:datastoreItem xmlns:ds="http://schemas.openxmlformats.org/officeDocument/2006/customXml" ds:itemID="{2B0F0CF2-8870-49D0-9788-642D6C022A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101</TotalTime>
  <Words>629</Words>
  <Application>Microsoft Office PowerPoint</Application>
  <PresentationFormat>Widescreen</PresentationFormat>
  <Paragraphs>50</Paragraphs>
  <Slides>7</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vt:i4>
      </vt:variant>
    </vt:vector>
  </HeadingPairs>
  <TitlesOfParts>
    <vt:vector size="16" baseType="lpstr">
      <vt:lpstr>Arial</vt:lpstr>
      <vt:lpstr>Calibri</vt:lpstr>
      <vt:lpstr>Cambria</vt:lpstr>
      <vt:lpstr>Courier New</vt:lpstr>
      <vt:lpstr>Helvetica</vt:lpstr>
      <vt:lpstr>MS Mincho</vt:lpstr>
      <vt:lpstr>Times New Roman</vt:lpstr>
      <vt:lpstr>Wingdings</vt:lpstr>
      <vt:lpstr>Office Theme</vt:lpstr>
      <vt:lpstr>PowerPoint Presentation</vt:lpstr>
      <vt:lpstr>Lisa’s Job Description</vt:lpstr>
      <vt:lpstr>Lisa’s Job Description</vt:lpstr>
      <vt:lpstr>Lisa’s Job Description</vt:lpstr>
      <vt:lpstr>Lisa’s Job Description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Caitlin Knecht</dc:creator>
  <cp:lastModifiedBy>Hom, Lisa/It And Digital Initiatives</cp:lastModifiedBy>
  <cp:revision>13</cp:revision>
  <cp:lastPrinted>2025-04-17T20:11:36Z</cp:lastPrinted>
  <dcterms:created xsi:type="dcterms:W3CDTF">2023-06-12T15:38:38Z</dcterms:created>
  <dcterms:modified xsi:type="dcterms:W3CDTF">2025-08-06T16:23:42Z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0x01010083C38FE0D61D5046BB8E8D30AC84F4CC</vt:lpwstr>
  </property>
  <property fmtid="{D5CDD505-2E9C-101B-9397-08002B2CF9AE}" pid="3" name="Order">
    <vt:r8>1900</vt:r8>
  </property>
  <property fmtid="{D5CDD505-2E9C-101B-9397-08002B2CF9AE}" pid="4" name="MediaServiceImageTags">
    <vt:lpwstr/>
  </property>
</Properties>
</file>